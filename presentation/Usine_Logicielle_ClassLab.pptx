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4fa290ed584492" /><Relationship Type="http://schemas.openxmlformats.org/officeDocument/2006/relationships/extended-properties" Target="/docProps/app.xml" Id="R5861a9c3dbb7429d" /><Relationship Type="http://schemas.openxmlformats.org/officeDocument/2006/relationships/officeDocument" Target="/ppt/presentation.xml" Id="Rc94ac8fb0f7c435c" /></Relationships>
</file>

<file path=ppt/presentation.xml><?xml version="1.0" encoding="utf-8"?>
<p:presentation xmlns:p="http://schemas.openxmlformats.org/presentationml/2006/main">
  <p:sldMasterIdLst>
    <p:sldMasterId xmlns:r="http://schemas.openxmlformats.org/officeDocument/2006/relationships" id="2147483648" r:id="Rf409a8340a784262"/>
  </p:sldMasterIdLst>
  <p:notesMasterIdLst>
    <p:notesMasterId xmlns:r="http://schemas.openxmlformats.org/officeDocument/2006/relationships" r:id="Rfbd2174f2b8841f4"/>
  </p:notesMasterIdLst>
  <p:sldIdLst>
    <p:sldId xmlns:r="http://schemas.openxmlformats.org/officeDocument/2006/relationships" id="256" r:id="R78b19ec43f7f4576"/>
    <p:sldId xmlns:r="http://schemas.openxmlformats.org/officeDocument/2006/relationships" id="257" r:id="R55a208bdd75f44cb"/>
    <p:sldId xmlns:r="http://schemas.openxmlformats.org/officeDocument/2006/relationships" id="258" r:id="R25ddb0cf35a6486f"/>
    <p:sldId xmlns:r="http://schemas.openxmlformats.org/officeDocument/2006/relationships" id="259" r:id="R4d11fb37f3fb4ce3"/>
    <p:sldId xmlns:r="http://schemas.openxmlformats.org/officeDocument/2006/relationships" id="260" r:id="Rf6f953dd74ee4a6b"/>
    <p:sldId xmlns:r="http://schemas.openxmlformats.org/officeDocument/2006/relationships" id="261" r:id="Rc430455c12c24244"/>
    <p:sldId xmlns:r="http://schemas.openxmlformats.org/officeDocument/2006/relationships" id="262" r:id="Rf9289305e24b465e"/>
    <p:sldId xmlns:r="http://schemas.openxmlformats.org/officeDocument/2006/relationships" id="263" r:id="R3002d9b5b1df4d99"/>
    <p:sldId xmlns:r="http://schemas.openxmlformats.org/officeDocument/2006/relationships" id="264" r:id="R6f4b5e1f58f345a4"/>
    <p:sldId xmlns:r="http://schemas.openxmlformats.org/officeDocument/2006/relationships" id="265" r:id="R8b329cef87544c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de88250dba4861" /><Relationship Type="http://schemas.openxmlformats.org/officeDocument/2006/relationships/slideMaster" Target="/ppt/slideMasters/slideMaster1.xml" Id="Rf409a8340a784262" /><Relationship Type="http://schemas.openxmlformats.org/officeDocument/2006/relationships/notesMaster" Target="/ppt/notesMasters/notesMaster1.xml" Id="Rfbd2174f2b8841f4" /><Relationship Type="http://schemas.openxmlformats.org/officeDocument/2006/relationships/presProps" Target="/ppt/presProps.xml" Id="Rbf0d7d83d5af42b7" /><Relationship Type="http://schemas.openxmlformats.org/officeDocument/2006/relationships/tableStyles" Target="/ppt/tableStyles.xml" Id="R81056cdad9314507" /><Relationship Type="http://schemas.openxmlformats.org/officeDocument/2006/relationships/slide" Target="/ppt/slides/slide1.xml" Id="R78b19ec43f7f4576" /><Relationship Type="http://schemas.openxmlformats.org/officeDocument/2006/relationships/slide" Target="/ppt/slides/slide2.xml" Id="R55a208bdd75f44cb" /><Relationship Type="http://schemas.openxmlformats.org/officeDocument/2006/relationships/slide" Target="/ppt/slides/slide3.xml" Id="R25ddb0cf35a6486f" /><Relationship Type="http://schemas.openxmlformats.org/officeDocument/2006/relationships/slide" Target="/ppt/slides/slide4.xml" Id="R4d11fb37f3fb4ce3" /><Relationship Type="http://schemas.openxmlformats.org/officeDocument/2006/relationships/slide" Target="/ppt/slides/slide5.xml" Id="Rf6f953dd74ee4a6b" /><Relationship Type="http://schemas.openxmlformats.org/officeDocument/2006/relationships/slide" Target="/ppt/slides/slide6.xml" Id="Rc430455c12c24244" /><Relationship Type="http://schemas.openxmlformats.org/officeDocument/2006/relationships/slide" Target="/ppt/slides/slide7.xml" Id="Rf9289305e24b465e" /><Relationship Type="http://schemas.openxmlformats.org/officeDocument/2006/relationships/slide" Target="/ppt/slides/slide8.xml" Id="R3002d9b5b1df4d99" /><Relationship Type="http://schemas.openxmlformats.org/officeDocument/2006/relationships/slide" Target="/ppt/slides/slide9.xml" Id="R6f4b5e1f58f345a4" /><Relationship Type="http://schemas.openxmlformats.org/officeDocument/2006/relationships/slide" Target="/ppt/slides/slide10.xml" Id="R8b329cef87544c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d45702005a4f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9d412ed4ac4596" /><Relationship Type="http://schemas.openxmlformats.org/officeDocument/2006/relationships/notesMaster" Target="/ppt/notesMasters/notesMaster1.xml" Id="Rf43a4584c0f340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bc08aa42a24155" /><Relationship Type="http://schemas.openxmlformats.org/officeDocument/2006/relationships/notesMaster" Target="/ppt/notesMasters/notesMaster1.xml" Id="R8c90a27aa39041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d2ca2905cb485f" /><Relationship Type="http://schemas.openxmlformats.org/officeDocument/2006/relationships/notesMaster" Target="/ppt/notesMasters/notesMaster1.xml" Id="Rb9369802178f4b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2d1612136941f3" /><Relationship Type="http://schemas.openxmlformats.org/officeDocument/2006/relationships/notesMaster" Target="/ppt/notesMasters/notesMaster1.xml" Id="Rfc26b3a6da8444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06a12ae75b4a70" /><Relationship Type="http://schemas.openxmlformats.org/officeDocument/2006/relationships/notesMaster" Target="/ppt/notesMasters/notesMaster1.xml" Id="Rd744092c8f1b42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d4375a205144df" /><Relationship Type="http://schemas.openxmlformats.org/officeDocument/2006/relationships/notesMaster" Target="/ppt/notesMasters/notesMaster1.xml" Id="Rccc7bdb3650544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4956064fd341bf" /><Relationship Type="http://schemas.openxmlformats.org/officeDocument/2006/relationships/notesMaster" Target="/ppt/notesMasters/notesMaster1.xml" Id="Rfad8de0531ee4e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0f174be6c34b18" /><Relationship Type="http://schemas.openxmlformats.org/officeDocument/2006/relationships/notesMaster" Target="/ppt/notesMasters/notesMaster1.xml" Id="Rb3bc8ad5660741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d81827f84742f4" /><Relationship Type="http://schemas.openxmlformats.org/officeDocument/2006/relationships/notesMaster" Target="/ppt/notesMasters/notesMaster1.xml" Id="R7da791540fa048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1eedd417f84f2e" /><Relationship Type="http://schemas.openxmlformats.org/officeDocument/2006/relationships/notesMaster" Target="/ppt/notesMasters/notesMaster1.xml" Id="Rea9fde1ba1954f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Nous avons construit une chaîne complète pour supprimer les builds manuels et rendre chaque livraison traçable. L'application sert de témoin. La valeur principale se trouve dans le processus automatisé.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besoin décrit cinq faiblesses : opérations manuelles, tests facultatifs, environnements hétérogènes, sécurité insuffisante et supervision limitée. Notre réponse associe une preuve concrète à chaque problème.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développeur pousse sur GitLab. Les jobs contrôlent le code avant la construction. Docker publie une image marquée par le SHA. Trivy analyse cette image. L'agent GitLab déploie dans K3s. Prometheus collecte les métriques et Grafana les présente.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lint et la validation Kubernetes commencent tôt. Les tests produisent des rapports intégrés à GitLab. Une image n'est publiée qu'après ces contrôles. Develop alimente automatiquement le staging. Main conserve une validation humaine avant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conteneur utilise un UID non privilégié, perd toutes ses capabilities Linux et ne peut pas écrire dans son système de fichiers. Kubernetes ne monte pas automatiquement de jeton. Le scan bloque les vulnérabilités corrigibles de gravité haute ou critique.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Kustomize centralise la base et limite les écarts aux overlays. La production utilise deux replicas. Le rolling update interdit toute indisponibilité planifiée. Les probes pilotent le trafic et les redémarrages. Le HPA peut monter à cinq pods.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L'application expose le nombre de requêtes et leur latence. Le dashboard montre le débit, les erreurs et la latence p95. Deux règles alertent sur l'indisponibilité et le taux de 5xx. Le monitoring vérifie le service utilisateur, pas uniquement les machines.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démonstration prouve la continuité : pipeline vert, image SHA, deux pods prêts, version renvoyée par l'API, génération de trafic puis apparition des séries dans Grafana.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lab reste en HTTP et ne contient pas de données persistantes. Une version d'entreprise ajouterait TLS, gestion externe des secrets, signature des images, SAST et sauvegardes. Ces extensions ne remettent pas en cause l'architecture.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transforme un commit en livraison contrôlée. Les tests réduisent les régressions, l'image immuable assure la traçabilité, Kubernetes fiabilise le déploiement et la supervision ferme la boucle d'exploitation.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3053d4407b44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433690fe4646d7" /><Relationship Type="http://schemas.openxmlformats.org/officeDocument/2006/relationships/slideLayout" Target="/ppt/slideLayouts/slideLayout1.xml" Id="R17c264832a1f4c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c264832a1f4c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b4c731ddec46fa" /><Relationship Type="http://schemas.openxmlformats.org/officeDocument/2006/relationships/notesSlide" Target="/ppt/notesSlides/notesSlide1.xml" Id="R332ec4c3f8b14b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1dc153b020419f" /><Relationship Type="http://schemas.openxmlformats.org/officeDocument/2006/relationships/notesSlide" Target="/ppt/notesSlides/notesSlide2.xml" Id="Rb634eb2fc1894d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c2d5ea547744ef" /><Relationship Type="http://schemas.openxmlformats.org/officeDocument/2006/relationships/notesSlide" Target="/ppt/notesSlides/notesSlide3.xml" Id="R3e3fb8fe4c894a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bc7745c6ba47bb" /><Relationship Type="http://schemas.openxmlformats.org/officeDocument/2006/relationships/notesSlide" Target="/ppt/notesSlides/notesSlide4.xml" Id="R4dded0c05e7d42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81f8ab17ff4888" /><Relationship Type="http://schemas.openxmlformats.org/officeDocument/2006/relationships/notesSlide" Target="/ppt/notesSlides/notesSlide5.xml" Id="Re1f41184c5dd4a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e87bc772674168" /><Relationship Type="http://schemas.openxmlformats.org/officeDocument/2006/relationships/notesSlide" Target="/ppt/notesSlides/notesSlide6.xml" Id="Rad2960e16b1045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60d8701ecc4a25" /><Relationship Type="http://schemas.openxmlformats.org/officeDocument/2006/relationships/notesSlide" Target="/ppt/notesSlides/notesSlide7.xml" Id="R91e3da677fe040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34f3b494e04b75" /><Relationship Type="http://schemas.openxmlformats.org/officeDocument/2006/relationships/notesSlide" Target="/ppt/notesSlides/notesSlide8.xml" Id="R7cc9196ebaf24a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a744bc4f8845fe" /><Relationship Type="http://schemas.openxmlformats.org/officeDocument/2006/relationships/notesSlide" Target="/ppt/notesSlides/notesSlide9.xml" Id="R0857e677b8d34d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6f82b84c3544ac" /><Relationship Type="http://schemas.openxmlformats.org/officeDocument/2006/relationships/notesSlide" Target="/ppt/notesSlides/notesSlide10.xml" Id="Ra6b2c390f1244af8" /></Relationships>
</file>

<file path=ppt/slides/slide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4FC8E0-31D4-4676-9671-7ED7268AC0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B61A8F-AC96-4897-8B31-DF3A5C654CB3}"/>
              </a:ext>
            </a:extLst>
          </p:cNvPr>
          <p:cNvSpPr>
            <a:spLocks xmlns:a="http://schemas.openxmlformats.org/drawingml/2006/main" noGrp="1"/>
          </p:cNvSpPr>
          <p:nvPr/>
        </p:nvSpPr>
        <p:spPr>
          <a:xfrm xmlns:a="http://schemas.openxmlformats.org/drawingml/2006/main">
            <a:off x="666750" y="762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4D399"/>
                </a:solidFill>
                <a:latin typeface="Aptos"/>
                <a:ea typeface="Aptos"/>
                <a:cs typeface="Aptos"/>
              </a:defRPr>
            </a:pPr>
            <a:r>
              <a:rPr sz="1350" b="1">
                <a:solidFill>
                  <a:srgbClr val="34D399"/>
                </a:solidFill>
                <a:latin typeface="Aptos"/>
                <a:ea typeface="Aptos"/>
                <a:cs typeface="Aptos"/>
              </a:rPr>
              <a:t>USINE LOGICIELLE</a:t>
            </a:r>
          </a:p>
        </p:txBody>
      </p:sp>
      <p:sp>
        <p:nvSpPr>
          <p:cNvPr id="3" name="">
            <a:extLst xmlns:a="http://schemas.openxmlformats.org/drawingml/2006/main">
              <a:ext uri="{FF2B5EF4-FFF2-40B4-BE49-F238E27FC236}">
                <a16:creationId xmlns:a16="http://schemas.microsoft.com/office/drawing/2014/main" id="{5B438220-1DC4-4DC4-A559-BA7957DA3DF6}"/>
              </a:ext>
            </a:extLst>
          </p:cNvPr>
          <p:cNvSpPr>
            <a:spLocks xmlns:a="http://schemas.openxmlformats.org/drawingml/2006/main" noGrp="1"/>
          </p:cNvSpPr>
          <p:nvPr/>
        </p:nvSpPr>
        <p:spPr>
          <a:xfrm xmlns:a="http://schemas.openxmlformats.org/drawingml/2006/main">
            <a:off x="666750" y="1428750"/>
            <a:ext cx="7905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050" b="1">
                <a:solidFill>
                  <a:srgbClr val="EAF4F3"/>
                </a:solidFill>
                <a:latin typeface="Aptos"/>
                <a:ea typeface="Aptos"/>
                <a:cs typeface="Aptos"/>
              </a:defRPr>
            </a:pPr>
            <a:r>
              <a:rPr sz="4050" b="1">
                <a:solidFill>
                  <a:srgbClr val="EAF4F3"/>
                </a:solidFill>
                <a:latin typeface="Aptos"/>
                <a:ea typeface="Aptos"/>
                <a:cs typeface="Aptos"/>
              </a:rPr>
              <a:t>Du commit au service</a:t>
            </a:r>
          </a:p>
          <a:p xmlns:a="http://schemas.openxmlformats.org/drawingml/2006/main">
            <a:pPr algn="l">
              <a:defRPr sz="4050" b="1">
                <a:solidFill>
                  <a:srgbClr val="EAF4F3"/>
                </a:solidFill>
                <a:latin typeface="Aptos"/>
                <a:ea typeface="Aptos"/>
                <a:cs typeface="Aptos"/>
              </a:defRPr>
            </a:pPr>
            <a:r>
              <a:rPr sz="4050" b="1">
                <a:solidFill>
                  <a:srgbClr val="EAF4F3"/>
                </a:solidFill>
                <a:latin typeface="Aptos"/>
                <a:ea typeface="Aptos"/>
                <a:cs typeface="Aptos"/>
              </a:rPr>
              <a:t>supervisé</a:t>
            </a:r>
          </a:p>
        </p:txBody>
      </p:sp>
      <p:sp>
        <p:nvSpPr>
          <p:cNvPr id="4" name="">
            <a:extLst xmlns:a="http://schemas.openxmlformats.org/drawingml/2006/main">
              <a:ext uri="{FF2B5EF4-FFF2-40B4-BE49-F238E27FC236}">
                <a16:creationId xmlns:a16="http://schemas.microsoft.com/office/drawing/2014/main" id="{AE2314FE-017E-49AC-9197-6A8AD4BEE74E}"/>
              </a:ext>
            </a:extLst>
          </p:cNvPr>
          <p:cNvSpPr>
            <a:spLocks xmlns:a="http://schemas.openxmlformats.org/drawingml/2006/main" noGrp="1"/>
          </p:cNvSpPr>
          <p:nvPr/>
        </p:nvSpPr>
        <p:spPr>
          <a:xfrm xmlns:a="http://schemas.openxmlformats.org/drawingml/2006/main">
            <a:off x="704850" y="33813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950" b="0">
                <a:solidFill>
                  <a:srgbClr val="9CB4BF"/>
                </a:solidFill>
                <a:latin typeface="Aptos"/>
                <a:ea typeface="Aptos"/>
                <a:cs typeface="Aptos"/>
              </a:defRPr>
            </a:pPr>
            <a:r>
              <a:rPr sz="1950" b="0">
                <a:solidFill>
                  <a:srgbClr val="9CB4BF"/>
                </a:solidFill>
                <a:latin typeface="Aptos"/>
                <a:ea typeface="Aptos"/>
                <a:cs typeface="Aptos"/>
              </a:rPr>
              <a:t>Projet fil rouge ClassLab</a:t>
            </a:r>
          </a:p>
        </p:txBody>
      </p:sp>
      <p:sp>
        <p:nvSpPr>
          <p:cNvPr id="5" name="">
            <a:extLst xmlns:a="http://schemas.openxmlformats.org/drawingml/2006/main">
              <a:ext uri="{FF2B5EF4-FFF2-40B4-BE49-F238E27FC236}">
                <a16:creationId xmlns:a16="http://schemas.microsoft.com/office/drawing/2014/main" id="{98B9F151-1579-4EC9-B4C6-9CF87EA55DBC}"/>
              </a:ext>
            </a:extLst>
          </p:cNvPr>
          <p:cNvSpPr>
            <a:spLocks xmlns:a="http://schemas.openxmlformats.org/drawingml/2006/main" noGrp="1"/>
          </p:cNvSpPr>
          <p:nvPr/>
        </p:nvSpPr>
        <p:spPr>
          <a:xfrm xmlns:a="http://schemas.openxmlformats.org/drawingml/2006/main">
            <a:off x="8001000" y="1095375"/>
            <a:ext cx="2952750" cy="4095750"/>
          </a:xfrm>
          <a:prstGeom xmlns:a="http://schemas.openxmlformats.org/drawingml/2006/main" prst="roundRect">
            <a:avLst>
              <a:gd name="adj" fmla="val 2581"/>
            </a:avLst>
          </a:prstGeom>
          <a:solidFill xmlns:a="http://schemas.openxmlformats.org/drawingml/2006/main">
            <a:srgbClr val="0D2638"/>
          </a:solidFill>
          <a:ln xmlns:a="http://schemas.openxmlformats.org/drawingml/2006/main" w="19050">
            <a:solidFill>
              <a:srgbClr val="47BFF2"/>
            </a:solidFill>
          </a:ln>
        </p:spPr>
      </p:sp>
      <p:sp>
        <p:nvSpPr>
          <p:cNvPr id="6" name="">
            <a:extLst xmlns:a="http://schemas.openxmlformats.org/drawingml/2006/main">
              <a:ext uri="{FF2B5EF4-FFF2-40B4-BE49-F238E27FC236}">
                <a16:creationId xmlns:a16="http://schemas.microsoft.com/office/drawing/2014/main" id="{AE4C8F01-5B81-47DE-AF63-F00042E08FEA}"/>
              </a:ext>
            </a:extLst>
          </p:cNvPr>
          <p:cNvSpPr>
            <a:spLocks xmlns:a="http://schemas.openxmlformats.org/drawingml/2006/main" noGrp="1"/>
          </p:cNvSpPr>
          <p:nvPr/>
        </p:nvSpPr>
        <p:spPr>
          <a:xfrm xmlns:a="http://schemas.openxmlformats.org/drawingml/2006/main">
            <a:off x="8572500" y="15716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400" b="1">
                <a:solidFill>
                  <a:srgbClr val="47BFF2"/>
                </a:solidFill>
                <a:latin typeface="Aptos"/>
                <a:ea typeface="Aptos"/>
                <a:cs typeface="Aptos"/>
              </a:defRPr>
            </a:pPr>
            <a:r>
              <a:rPr sz="2400" b="1">
                <a:solidFill>
                  <a:srgbClr val="47BFF2"/>
                </a:solidFill>
                <a:latin typeface="Aptos"/>
                <a:ea typeface="Aptos"/>
                <a:cs typeface="Aptos"/>
              </a:rPr>
              <a:t>CODE</a:t>
            </a:r>
          </a:p>
        </p:txBody>
      </p:sp>
      <p:sp>
        <p:nvSpPr>
          <p:cNvPr id="7" name="">
            <a:extLst xmlns:a="http://schemas.openxmlformats.org/drawingml/2006/main">
              <a:ext uri="{FF2B5EF4-FFF2-40B4-BE49-F238E27FC236}">
                <a16:creationId xmlns:a16="http://schemas.microsoft.com/office/drawing/2014/main" id="{74AECA87-878F-4390-926E-9FAC58F90753}"/>
              </a:ext>
            </a:extLst>
          </p:cNvPr>
          <p:cNvSpPr>
            <a:spLocks xmlns:a="http://schemas.openxmlformats.org/drawingml/2006/main" noGrp="1"/>
          </p:cNvSpPr>
          <p:nvPr/>
        </p:nvSpPr>
        <p:spPr>
          <a:xfrm xmlns:a="http://schemas.openxmlformats.org/drawingml/2006/main">
            <a:off x="8572500" y="21907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ctr">
              <a:defRPr sz="2550" b="1">
                <a:solidFill>
                  <a:srgbClr val="9CB4BF"/>
                </a:solidFill>
                <a:latin typeface="Aptos"/>
                <a:ea typeface="Aptos"/>
                <a:cs typeface="Aptos"/>
              </a:defRPr>
            </a:pPr>
            <a:r>
              <a:rPr sz="2550" b="1">
                <a:solidFill>
                  <a:srgbClr val="9CB4B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2114774B-D9AA-4C6D-8B66-4335D6BA36EB}"/>
              </a:ext>
            </a:extLst>
          </p:cNvPr>
          <p:cNvSpPr>
            <a:spLocks xmlns:a="http://schemas.openxmlformats.org/drawingml/2006/main" noGrp="1"/>
          </p:cNvSpPr>
          <p:nvPr/>
        </p:nvSpPr>
        <p:spPr>
          <a:xfrm xmlns:a="http://schemas.openxmlformats.org/drawingml/2006/main">
            <a:off x="8572500" y="280987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400" b="1">
                <a:solidFill>
                  <a:srgbClr val="34D399"/>
                </a:solidFill>
                <a:latin typeface="Aptos"/>
                <a:ea typeface="Aptos"/>
                <a:cs typeface="Aptos"/>
              </a:defRPr>
            </a:pPr>
            <a:r>
              <a:rPr sz="2400" b="1">
                <a:solidFill>
                  <a:srgbClr val="34D399"/>
                </a:solidFill>
                <a:latin typeface="Aptos"/>
                <a:ea typeface="Aptos"/>
                <a:cs typeface="Aptos"/>
              </a:rPr>
              <a:t>IMAGE</a:t>
            </a:r>
          </a:p>
        </p:txBody>
      </p:sp>
      <p:sp>
        <p:nvSpPr>
          <p:cNvPr id="9" name="">
            <a:extLst xmlns:a="http://schemas.openxmlformats.org/drawingml/2006/main">
              <a:ext uri="{FF2B5EF4-FFF2-40B4-BE49-F238E27FC236}">
                <a16:creationId xmlns:a16="http://schemas.microsoft.com/office/drawing/2014/main" id="{29D17893-062A-4106-BAEE-1C817D5D5F16}"/>
              </a:ext>
            </a:extLst>
          </p:cNvPr>
          <p:cNvSpPr>
            <a:spLocks xmlns:a="http://schemas.openxmlformats.org/drawingml/2006/main" noGrp="1"/>
          </p:cNvSpPr>
          <p:nvPr/>
        </p:nvSpPr>
        <p:spPr>
          <a:xfrm xmlns:a="http://schemas.openxmlformats.org/drawingml/2006/main">
            <a:off x="8572500" y="342900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ctr">
              <a:defRPr sz="2550" b="1">
                <a:solidFill>
                  <a:srgbClr val="9CB4BF"/>
                </a:solidFill>
                <a:latin typeface="Aptos"/>
                <a:ea typeface="Aptos"/>
                <a:cs typeface="Aptos"/>
              </a:defRPr>
            </a:pPr>
            <a:r>
              <a:rPr sz="2550" b="1">
                <a:solidFill>
                  <a:srgbClr val="9CB4B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381B791B-048B-44A7-9CEA-7015DE5B77AD}"/>
              </a:ext>
            </a:extLst>
          </p:cNvPr>
          <p:cNvSpPr>
            <a:spLocks xmlns:a="http://schemas.openxmlformats.org/drawingml/2006/main" noGrp="1"/>
          </p:cNvSpPr>
          <p:nvPr/>
        </p:nvSpPr>
        <p:spPr>
          <a:xfrm xmlns:a="http://schemas.openxmlformats.org/drawingml/2006/main">
            <a:off x="8382000" y="404812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400" b="1">
                <a:solidFill>
                  <a:srgbClr val="FF7A6E"/>
                </a:solidFill>
                <a:latin typeface="Aptos"/>
                <a:ea typeface="Aptos"/>
                <a:cs typeface="Aptos"/>
              </a:defRPr>
            </a:pPr>
            <a:r>
              <a:rPr sz="2400" b="1">
                <a:solidFill>
                  <a:srgbClr val="FF7A6E"/>
                </a:solidFill>
                <a:latin typeface="Aptos"/>
                <a:ea typeface="Aptos"/>
                <a:cs typeface="Aptos"/>
              </a:rPr>
              <a:t>SERVICE</a:t>
            </a:r>
          </a:p>
        </p:txBody>
      </p:sp>
      <p:sp>
        <p:nvSpPr>
          <p:cNvPr id="11" name="">
            <a:extLst xmlns:a="http://schemas.openxmlformats.org/drawingml/2006/main">
              <a:ext uri="{FF2B5EF4-FFF2-40B4-BE49-F238E27FC236}">
                <a16:creationId xmlns:a16="http://schemas.microsoft.com/office/drawing/2014/main" id="{6F71FC43-ED2B-48B6-8E6C-0CAF95750A1A}"/>
              </a:ext>
            </a:extLst>
          </p:cNvPr>
          <p:cNvSpPr>
            <a:spLocks xmlns:a="http://schemas.openxmlformats.org/drawingml/2006/main" noGrp="1"/>
          </p:cNvSpPr>
          <p:nvPr/>
        </p:nvSpPr>
        <p:spPr>
          <a:xfrm xmlns:a="http://schemas.openxmlformats.org/drawingml/2006/main">
            <a:off x="704850" y="60960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0">
                <a:solidFill>
                  <a:srgbClr val="9CB4BF"/>
                </a:solidFill>
                <a:latin typeface="Aptos"/>
                <a:ea typeface="Aptos"/>
                <a:cs typeface="Aptos"/>
              </a:defRPr>
            </a:pPr>
            <a:r>
              <a:rPr sz="1200" b="0">
                <a:solidFill>
                  <a:srgbClr val="9CB4BF"/>
                </a:solidFill>
                <a:latin typeface="Aptos"/>
                <a:ea typeface="Aptos"/>
                <a:cs typeface="Aptos"/>
              </a:rPr>
              <a:t>Tom Patelas · 2026</a:t>
            </a:r>
          </a:p>
        </p:txBody>
      </p:sp>
    </p:spTree>
    <p:extLst>
      <p:ext uri="{BB962C8B-B14F-4D97-AF65-F5344CB8AC3E}">
        <p14:creationId xmlns:p14="http://schemas.microsoft.com/office/powerpoint/2010/main" val="364670411"/>
      </p:ext>
    </p:extLst>
  </p:cSld>
</p:sld>
</file>

<file path=ppt/slides/slide2.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A5CCF6-56D7-4DF6-8B24-01DF19274CE2}"/>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EAF4F3"/>
                </a:solidFill>
                <a:latin typeface="Aptos"/>
                <a:ea typeface="Aptos"/>
                <a:cs typeface="Aptos"/>
              </a:defRPr>
            </a:pPr>
            <a:r>
              <a:rPr sz="2550" b="1">
                <a:solidFill>
                  <a:srgbClr val="EAF4F3"/>
                </a:solidFill>
                <a:latin typeface="Aptos"/>
                <a:ea typeface="Aptos"/>
                <a:cs typeface="Aptos"/>
              </a:rPr>
              <a:t>Point de départ et objectifs</a:t>
            </a:r>
          </a:p>
        </p:txBody>
      </p:sp>
      <p:sp>
        <p:nvSpPr>
          <p:cNvPr id="2" name="">
            <a:extLst xmlns:a="http://schemas.openxmlformats.org/drawingml/2006/main">
              <a:ext uri="{FF2B5EF4-FFF2-40B4-BE49-F238E27FC236}">
                <a16:creationId xmlns:a16="http://schemas.microsoft.com/office/drawing/2014/main" id="{58319E9F-A6A5-43DC-9447-4B627897AAB9}"/>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2AC22EED-2D2B-44DC-9347-D15AA03A473F}"/>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10A7DF-D901-4476-9464-5105AB290F8D}"/>
              </a:ext>
            </a:extLst>
          </p:cNvPr>
          <p:cNvSpPr>
            <a:spLocks xmlns:a="http://schemas.openxmlformats.org/drawingml/2006/main" noGrp="1"/>
          </p:cNvSpPr>
          <p:nvPr/>
        </p:nvSpPr>
        <p:spPr>
          <a:xfrm xmlns:a="http://schemas.openxmlformats.org/drawingml/2006/main">
            <a:off x="704850" y="1504950"/>
            <a:ext cx="152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8400" b="1">
                <a:solidFill>
                  <a:srgbClr val="FF7A6E"/>
                </a:solidFill>
                <a:latin typeface="Aptos"/>
                <a:ea typeface="Aptos"/>
                <a:cs typeface="Aptos"/>
              </a:defRPr>
            </a:pPr>
            <a:r>
              <a:rPr sz="8400" b="1">
                <a:solidFill>
                  <a:srgbClr val="FF7A6E"/>
                </a:solidFill>
                <a:latin typeface="Aptos"/>
                <a:ea typeface="Aptos"/>
                <a:cs typeface="Aptos"/>
              </a:rPr>
              <a:t>5</a:t>
            </a:r>
          </a:p>
        </p:txBody>
      </p:sp>
      <p:sp>
        <p:nvSpPr>
          <p:cNvPr id="5" name="">
            <a:extLst xmlns:a="http://schemas.openxmlformats.org/drawingml/2006/main">
              <a:ext uri="{FF2B5EF4-FFF2-40B4-BE49-F238E27FC236}">
                <a16:creationId xmlns:a16="http://schemas.microsoft.com/office/drawing/2014/main" id="{B944B6B9-58C4-4786-BA05-44A473C6ED13}"/>
              </a:ext>
            </a:extLst>
          </p:cNvPr>
          <p:cNvSpPr>
            <a:spLocks xmlns:a="http://schemas.openxmlformats.org/drawingml/2006/main" noGrp="1"/>
          </p:cNvSpPr>
          <p:nvPr/>
        </p:nvSpPr>
        <p:spPr>
          <a:xfrm xmlns:a="http://schemas.openxmlformats.org/drawingml/2006/main">
            <a:off x="781050" y="28765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EAF4F3"/>
                </a:solidFill>
                <a:latin typeface="Aptos"/>
                <a:ea typeface="Aptos"/>
                <a:cs typeface="Aptos"/>
              </a:defRPr>
            </a:pPr>
            <a:r>
              <a:rPr sz="1800" b="1">
                <a:solidFill>
                  <a:srgbClr val="EAF4F3"/>
                </a:solidFill>
                <a:latin typeface="Aptos"/>
                <a:ea typeface="Aptos"/>
                <a:cs typeface="Aptos"/>
              </a:rPr>
              <a:t>faiblesses à traiter</a:t>
            </a:r>
          </a:p>
        </p:txBody>
      </p:sp>
      <p:sp>
        <p:nvSpPr>
          <p:cNvPr id="6" name="">
            <a:extLst xmlns:a="http://schemas.openxmlformats.org/drawingml/2006/main">
              <a:ext uri="{FF2B5EF4-FFF2-40B4-BE49-F238E27FC236}">
                <a16:creationId xmlns:a16="http://schemas.microsoft.com/office/drawing/2014/main" id="{CC5DB27D-3E1B-4B9D-A76D-23F4DBE72A8B}"/>
              </a:ext>
            </a:extLst>
          </p:cNvPr>
          <p:cNvSpPr>
            <a:spLocks xmlns:a="http://schemas.openxmlformats.org/drawingml/2006/main" noGrp="1"/>
          </p:cNvSpPr>
          <p:nvPr/>
        </p:nvSpPr>
        <p:spPr>
          <a:xfrm xmlns:a="http://schemas.openxmlformats.org/drawingml/2006/main">
            <a:off x="3429000" y="1428750"/>
            <a:ext cx="300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EAF4F3"/>
                </a:solidFill>
                <a:latin typeface="Aptos"/>
                <a:ea typeface="Aptos"/>
                <a:cs typeface="Aptos"/>
              </a:defRPr>
            </a:pPr>
            <a:r>
              <a:rPr sz="1650" b="1">
                <a:solidFill>
                  <a:srgbClr val="EAF4F3"/>
                </a:solidFill>
                <a:latin typeface="Aptos"/>
                <a:ea typeface="Aptos"/>
                <a:cs typeface="Aptos"/>
              </a:rPr>
              <a:t>Builds manuels</a:t>
            </a:r>
          </a:p>
        </p:txBody>
      </p:sp>
      <p:sp>
        <p:nvSpPr>
          <p:cNvPr id="7" name="">
            <a:extLst xmlns:a="http://schemas.openxmlformats.org/drawingml/2006/main">
              <a:ext uri="{FF2B5EF4-FFF2-40B4-BE49-F238E27FC236}">
                <a16:creationId xmlns:a16="http://schemas.microsoft.com/office/drawing/2014/main" id="{3E306E69-ECA8-4D55-BCA5-C31E0A03A394}"/>
              </a:ext>
            </a:extLst>
          </p:cNvPr>
          <p:cNvSpPr>
            <a:spLocks xmlns:a="http://schemas.openxmlformats.org/drawingml/2006/main" noGrp="1"/>
          </p:cNvSpPr>
          <p:nvPr/>
        </p:nvSpPr>
        <p:spPr>
          <a:xfrm xmlns:a="http://schemas.openxmlformats.org/drawingml/2006/main">
            <a:off x="6572250" y="1562100"/>
            <a:ext cx="495300" cy="38100"/>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56B263-5F62-4350-BA29-315358DFC3A9}"/>
              </a:ext>
            </a:extLst>
          </p:cNvPr>
          <p:cNvSpPr>
            <a:spLocks xmlns:a="http://schemas.openxmlformats.org/drawingml/2006/main" noGrp="1"/>
          </p:cNvSpPr>
          <p:nvPr/>
        </p:nvSpPr>
        <p:spPr>
          <a:xfrm xmlns:a="http://schemas.openxmlformats.org/drawingml/2006/main">
            <a:off x="7286625" y="14287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9CB4BF"/>
                </a:solidFill>
                <a:latin typeface="Aptos"/>
                <a:ea typeface="Aptos"/>
                <a:cs typeface="Aptos"/>
              </a:defRPr>
            </a:pPr>
            <a:r>
              <a:rPr sz="1500" b="0">
                <a:solidFill>
                  <a:srgbClr val="9CB4BF"/>
                </a:solidFill>
                <a:latin typeface="Aptos"/>
                <a:ea typeface="Aptos"/>
                <a:cs typeface="Aptos"/>
              </a:rPr>
              <a:t>Automatisation GitLab CI</a:t>
            </a:r>
          </a:p>
        </p:txBody>
      </p:sp>
      <p:sp>
        <p:nvSpPr>
          <p:cNvPr id="9" name="">
            <a:extLst xmlns:a="http://schemas.openxmlformats.org/drawingml/2006/main">
              <a:ext uri="{FF2B5EF4-FFF2-40B4-BE49-F238E27FC236}">
                <a16:creationId xmlns:a16="http://schemas.microsoft.com/office/drawing/2014/main" id="{59FB8A5F-01A6-4A2E-AE55-5AD5CC4BF0C2}"/>
              </a:ext>
            </a:extLst>
          </p:cNvPr>
          <p:cNvSpPr>
            <a:spLocks xmlns:a="http://schemas.openxmlformats.org/drawingml/2006/main" noGrp="1"/>
          </p:cNvSpPr>
          <p:nvPr/>
        </p:nvSpPr>
        <p:spPr>
          <a:xfrm xmlns:a="http://schemas.openxmlformats.org/drawingml/2006/main">
            <a:off x="3429000" y="2324100"/>
            <a:ext cx="300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EAF4F3"/>
                </a:solidFill>
                <a:latin typeface="Aptos"/>
                <a:ea typeface="Aptos"/>
                <a:cs typeface="Aptos"/>
              </a:defRPr>
            </a:pPr>
            <a:r>
              <a:rPr sz="1650" b="1">
                <a:solidFill>
                  <a:srgbClr val="EAF4F3"/>
                </a:solidFill>
                <a:latin typeface="Aptos"/>
                <a:ea typeface="Aptos"/>
                <a:cs typeface="Aptos"/>
              </a:rPr>
              <a:t>Tests irréguliers</a:t>
            </a:r>
          </a:p>
        </p:txBody>
      </p:sp>
      <p:sp>
        <p:nvSpPr>
          <p:cNvPr id="10" name="">
            <a:extLst xmlns:a="http://schemas.openxmlformats.org/drawingml/2006/main">
              <a:ext uri="{FF2B5EF4-FFF2-40B4-BE49-F238E27FC236}">
                <a16:creationId xmlns:a16="http://schemas.microsoft.com/office/drawing/2014/main" id="{3D129ECF-474C-4E94-9338-7B4A894980C0}"/>
              </a:ext>
            </a:extLst>
          </p:cNvPr>
          <p:cNvSpPr>
            <a:spLocks xmlns:a="http://schemas.openxmlformats.org/drawingml/2006/main" noGrp="1"/>
          </p:cNvSpPr>
          <p:nvPr/>
        </p:nvSpPr>
        <p:spPr>
          <a:xfrm xmlns:a="http://schemas.openxmlformats.org/drawingml/2006/main">
            <a:off x="6572250" y="2457450"/>
            <a:ext cx="495300" cy="38100"/>
          </a:xfrm>
          <a:prstGeom xmlns:a="http://schemas.openxmlformats.org/drawingml/2006/main" prst="rect">
            <a:avLst/>
          </a:prstGeom>
          <a:solidFill xmlns:a="http://schemas.openxmlformats.org/drawingml/2006/main">
            <a:srgbClr val="47BFF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247F48-B365-469A-9320-91F9F5E41BD9}"/>
              </a:ext>
            </a:extLst>
          </p:cNvPr>
          <p:cNvSpPr>
            <a:spLocks xmlns:a="http://schemas.openxmlformats.org/drawingml/2006/main" noGrp="1"/>
          </p:cNvSpPr>
          <p:nvPr/>
        </p:nvSpPr>
        <p:spPr>
          <a:xfrm xmlns:a="http://schemas.openxmlformats.org/drawingml/2006/main">
            <a:off x="7286625" y="23241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9CB4BF"/>
                </a:solidFill>
                <a:latin typeface="Aptos"/>
                <a:ea typeface="Aptos"/>
                <a:cs typeface="Aptos"/>
              </a:defRPr>
            </a:pPr>
            <a:r>
              <a:rPr sz="1500" b="0">
                <a:solidFill>
                  <a:srgbClr val="9CB4BF"/>
                </a:solidFill>
                <a:latin typeface="Aptos"/>
                <a:ea typeface="Aptos"/>
                <a:cs typeface="Aptos"/>
              </a:rPr>
              <a:t>Rapports et seuil de couverture</a:t>
            </a:r>
          </a:p>
        </p:txBody>
      </p:sp>
      <p:sp>
        <p:nvSpPr>
          <p:cNvPr id="12" name="">
            <a:extLst xmlns:a="http://schemas.openxmlformats.org/drawingml/2006/main">
              <a:ext uri="{FF2B5EF4-FFF2-40B4-BE49-F238E27FC236}">
                <a16:creationId xmlns:a16="http://schemas.microsoft.com/office/drawing/2014/main" id="{0D434624-9363-4158-8CC0-36F26A1D1494}"/>
              </a:ext>
            </a:extLst>
          </p:cNvPr>
          <p:cNvSpPr>
            <a:spLocks xmlns:a="http://schemas.openxmlformats.org/drawingml/2006/main" noGrp="1"/>
          </p:cNvSpPr>
          <p:nvPr/>
        </p:nvSpPr>
        <p:spPr>
          <a:xfrm xmlns:a="http://schemas.openxmlformats.org/drawingml/2006/main">
            <a:off x="3429000" y="3219450"/>
            <a:ext cx="300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EAF4F3"/>
                </a:solidFill>
                <a:latin typeface="Aptos"/>
                <a:ea typeface="Aptos"/>
                <a:cs typeface="Aptos"/>
              </a:defRPr>
            </a:pPr>
            <a:r>
              <a:rPr sz="1650" b="1">
                <a:solidFill>
                  <a:srgbClr val="EAF4F3"/>
                </a:solidFill>
                <a:latin typeface="Aptos"/>
                <a:ea typeface="Aptos"/>
                <a:cs typeface="Aptos"/>
              </a:rPr>
              <a:t>Environnements divergents</a:t>
            </a:r>
          </a:p>
        </p:txBody>
      </p:sp>
      <p:sp>
        <p:nvSpPr>
          <p:cNvPr id="13" name="">
            <a:extLst xmlns:a="http://schemas.openxmlformats.org/drawingml/2006/main">
              <a:ext uri="{FF2B5EF4-FFF2-40B4-BE49-F238E27FC236}">
                <a16:creationId xmlns:a16="http://schemas.microsoft.com/office/drawing/2014/main" id="{80DF75E4-DBFD-4126-8AD5-9F337B7C05D7}"/>
              </a:ext>
            </a:extLst>
          </p:cNvPr>
          <p:cNvSpPr>
            <a:spLocks xmlns:a="http://schemas.openxmlformats.org/drawingml/2006/main" noGrp="1"/>
          </p:cNvSpPr>
          <p:nvPr/>
        </p:nvSpPr>
        <p:spPr>
          <a:xfrm xmlns:a="http://schemas.openxmlformats.org/drawingml/2006/main">
            <a:off x="6572250" y="3352800"/>
            <a:ext cx="495300" cy="38100"/>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4D6BE3-C589-42DA-8BCD-41D6E74458C7}"/>
              </a:ext>
            </a:extLst>
          </p:cNvPr>
          <p:cNvSpPr>
            <a:spLocks xmlns:a="http://schemas.openxmlformats.org/drawingml/2006/main" noGrp="1"/>
          </p:cNvSpPr>
          <p:nvPr/>
        </p:nvSpPr>
        <p:spPr>
          <a:xfrm xmlns:a="http://schemas.openxmlformats.org/drawingml/2006/main">
            <a:off x="7286625" y="32194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9CB4BF"/>
                </a:solidFill>
                <a:latin typeface="Aptos"/>
                <a:ea typeface="Aptos"/>
                <a:cs typeface="Aptos"/>
              </a:defRPr>
            </a:pPr>
            <a:r>
              <a:rPr sz="1500" b="0">
                <a:solidFill>
                  <a:srgbClr val="9CB4BF"/>
                </a:solidFill>
                <a:latin typeface="Aptos"/>
                <a:ea typeface="Aptos"/>
                <a:cs typeface="Aptos"/>
              </a:rPr>
              <a:t>Image OCI et Kustomize</a:t>
            </a:r>
          </a:p>
        </p:txBody>
      </p:sp>
      <p:sp>
        <p:nvSpPr>
          <p:cNvPr id="15" name="">
            <a:extLst xmlns:a="http://schemas.openxmlformats.org/drawingml/2006/main">
              <a:ext uri="{FF2B5EF4-FFF2-40B4-BE49-F238E27FC236}">
                <a16:creationId xmlns:a16="http://schemas.microsoft.com/office/drawing/2014/main" id="{F4B4AF6A-63E4-447A-BA18-816728E1F33B}"/>
              </a:ext>
            </a:extLst>
          </p:cNvPr>
          <p:cNvSpPr>
            <a:spLocks xmlns:a="http://schemas.openxmlformats.org/drawingml/2006/main" noGrp="1"/>
          </p:cNvSpPr>
          <p:nvPr/>
        </p:nvSpPr>
        <p:spPr>
          <a:xfrm xmlns:a="http://schemas.openxmlformats.org/drawingml/2006/main">
            <a:off x="3429000" y="4114800"/>
            <a:ext cx="300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EAF4F3"/>
                </a:solidFill>
                <a:latin typeface="Aptos"/>
                <a:ea typeface="Aptos"/>
                <a:cs typeface="Aptos"/>
              </a:defRPr>
            </a:pPr>
            <a:r>
              <a:rPr sz="1650" b="1">
                <a:solidFill>
                  <a:srgbClr val="EAF4F3"/>
                </a:solidFill>
                <a:latin typeface="Aptos"/>
                <a:ea typeface="Aptos"/>
                <a:cs typeface="Aptos"/>
              </a:rPr>
              <a:t>Livraison peu sécurisée</a:t>
            </a:r>
          </a:p>
        </p:txBody>
      </p:sp>
      <p:sp>
        <p:nvSpPr>
          <p:cNvPr id="16" name="">
            <a:extLst xmlns:a="http://schemas.openxmlformats.org/drawingml/2006/main">
              <a:ext uri="{FF2B5EF4-FFF2-40B4-BE49-F238E27FC236}">
                <a16:creationId xmlns:a16="http://schemas.microsoft.com/office/drawing/2014/main" id="{C4553ECB-8EE7-4C6F-9069-B33585C08B15}"/>
              </a:ext>
            </a:extLst>
          </p:cNvPr>
          <p:cNvSpPr>
            <a:spLocks xmlns:a="http://schemas.openxmlformats.org/drawingml/2006/main" noGrp="1"/>
          </p:cNvSpPr>
          <p:nvPr/>
        </p:nvSpPr>
        <p:spPr>
          <a:xfrm xmlns:a="http://schemas.openxmlformats.org/drawingml/2006/main">
            <a:off x="6572250" y="4248150"/>
            <a:ext cx="495300" cy="38100"/>
          </a:xfrm>
          <a:prstGeom xmlns:a="http://schemas.openxmlformats.org/drawingml/2006/main" prst="rect">
            <a:avLst/>
          </a:prstGeom>
          <a:solidFill xmlns:a="http://schemas.openxmlformats.org/drawingml/2006/main">
            <a:srgbClr val="47BF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9F46FC7-11AD-4A2F-9AF9-9E453B632562}"/>
              </a:ext>
            </a:extLst>
          </p:cNvPr>
          <p:cNvSpPr>
            <a:spLocks xmlns:a="http://schemas.openxmlformats.org/drawingml/2006/main" noGrp="1"/>
          </p:cNvSpPr>
          <p:nvPr/>
        </p:nvSpPr>
        <p:spPr>
          <a:xfrm xmlns:a="http://schemas.openxmlformats.org/drawingml/2006/main">
            <a:off x="7286625" y="41148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9CB4BF"/>
                </a:solidFill>
                <a:latin typeface="Aptos"/>
                <a:ea typeface="Aptos"/>
                <a:cs typeface="Aptos"/>
              </a:defRPr>
            </a:pPr>
            <a:r>
              <a:rPr sz="1500" b="0">
                <a:solidFill>
                  <a:srgbClr val="9CB4BF"/>
                </a:solidFill>
                <a:latin typeface="Aptos"/>
                <a:ea typeface="Aptos"/>
                <a:cs typeface="Aptos"/>
              </a:rPr>
              <a:t>Scan, moindre privilège, image SHA</a:t>
            </a:r>
          </a:p>
        </p:txBody>
      </p:sp>
      <p:sp>
        <p:nvSpPr>
          <p:cNvPr id="18" name="">
            <a:extLst xmlns:a="http://schemas.openxmlformats.org/drawingml/2006/main">
              <a:ext uri="{FF2B5EF4-FFF2-40B4-BE49-F238E27FC236}">
                <a16:creationId xmlns:a16="http://schemas.microsoft.com/office/drawing/2014/main" id="{B86D3BB6-9C98-45F1-8B6B-B3FFCBF4A6E4}"/>
              </a:ext>
            </a:extLst>
          </p:cNvPr>
          <p:cNvSpPr>
            <a:spLocks xmlns:a="http://schemas.openxmlformats.org/drawingml/2006/main" noGrp="1"/>
          </p:cNvSpPr>
          <p:nvPr/>
        </p:nvSpPr>
        <p:spPr>
          <a:xfrm xmlns:a="http://schemas.openxmlformats.org/drawingml/2006/main">
            <a:off x="3429000" y="5010150"/>
            <a:ext cx="300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EAF4F3"/>
                </a:solidFill>
                <a:latin typeface="Aptos"/>
                <a:ea typeface="Aptos"/>
                <a:cs typeface="Aptos"/>
              </a:defRPr>
            </a:pPr>
            <a:r>
              <a:rPr sz="1650" b="1">
                <a:solidFill>
                  <a:srgbClr val="EAF4F3"/>
                </a:solidFill>
                <a:latin typeface="Aptos"/>
                <a:ea typeface="Aptos"/>
                <a:cs typeface="Aptos"/>
              </a:rPr>
              <a:t>Supervision limitée</a:t>
            </a:r>
          </a:p>
        </p:txBody>
      </p:sp>
      <p:sp>
        <p:nvSpPr>
          <p:cNvPr id="19" name="">
            <a:extLst xmlns:a="http://schemas.openxmlformats.org/drawingml/2006/main">
              <a:ext uri="{FF2B5EF4-FFF2-40B4-BE49-F238E27FC236}">
                <a16:creationId xmlns:a16="http://schemas.microsoft.com/office/drawing/2014/main" id="{F909CEE1-616A-4E91-A5D4-FDB0AE0F3631}"/>
              </a:ext>
            </a:extLst>
          </p:cNvPr>
          <p:cNvSpPr>
            <a:spLocks xmlns:a="http://schemas.openxmlformats.org/drawingml/2006/main" noGrp="1"/>
          </p:cNvSpPr>
          <p:nvPr/>
        </p:nvSpPr>
        <p:spPr>
          <a:xfrm xmlns:a="http://schemas.openxmlformats.org/drawingml/2006/main">
            <a:off x="6572250" y="5143500"/>
            <a:ext cx="495300" cy="38100"/>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0EBF6F1-944A-469F-AF61-BB977DADC82F}"/>
              </a:ext>
            </a:extLst>
          </p:cNvPr>
          <p:cNvSpPr>
            <a:spLocks xmlns:a="http://schemas.openxmlformats.org/drawingml/2006/main" noGrp="1"/>
          </p:cNvSpPr>
          <p:nvPr/>
        </p:nvSpPr>
        <p:spPr>
          <a:xfrm xmlns:a="http://schemas.openxmlformats.org/drawingml/2006/main">
            <a:off x="7286625" y="50101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9CB4BF"/>
                </a:solidFill>
                <a:latin typeface="Aptos"/>
                <a:ea typeface="Aptos"/>
                <a:cs typeface="Aptos"/>
              </a:defRPr>
            </a:pPr>
            <a:r>
              <a:rPr sz="1500" b="0">
                <a:solidFill>
                  <a:srgbClr val="9CB4BF"/>
                </a:solidFill>
                <a:latin typeface="Aptos"/>
                <a:ea typeface="Aptos"/>
                <a:cs typeface="Aptos"/>
              </a:rPr>
              <a:t>Métriques, alertes et dashboard</a:t>
            </a:r>
          </a:p>
        </p:txBody>
      </p:sp>
      <p:sp>
        <p:nvSpPr>
          <p:cNvPr id="21" name="">
            <a:extLst xmlns:a="http://schemas.openxmlformats.org/drawingml/2006/main">
              <a:ext uri="{FF2B5EF4-FFF2-40B4-BE49-F238E27FC236}">
                <a16:creationId xmlns:a16="http://schemas.microsoft.com/office/drawing/2014/main" id="{A83FE0A9-9443-4968-83CF-1C470C61A854}"/>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9CB4BF"/>
                </a:solidFill>
                <a:latin typeface="Aptos"/>
                <a:ea typeface="Aptos"/>
                <a:cs typeface="Aptos"/>
              </a:defRPr>
            </a:pPr>
            <a:r>
              <a:rPr sz="975" b="0">
                <a:solidFill>
                  <a:srgbClr val="9CB4BF"/>
                </a:solidFill>
                <a:latin typeface="Aptos"/>
                <a:ea typeface="Aptos"/>
                <a:cs typeface="Aptos"/>
              </a:rPr>
              <a:t>ClassLab · Projet fil rouge</a:t>
            </a:r>
          </a:p>
        </p:txBody>
      </p:sp>
    </p:spTree>
    <p:extLst>
      <p:ext uri="{BB962C8B-B14F-4D97-AF65-F5344CB8AC3E}">
        <p14:creationId xmlns:p14="http://schemas.microsoft.com/office/powerpoint/2010/main" val="110515158"/>
      </p:ext>
    </p:extLst>
  </p:cSld>
</p:sld>
</file>

<file path=ppt/slides/slide3.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4D95282-5761-427E-995A-59DF440E4D17}"/>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EAF4F3"/>
                </a:solidFill>
                <a:latin typeface="Aptos"/>
                <a:ea typeface="Aptos"/>
                <a:cs typeface="Aptos"/>
              </a:defRPr>
            </a:pPr>
            <a:r>
              <a:rPr sz="2550" b="1">
                <a:solidFill>
                  <a:srgbClr val="EAF4F3"/>
                </a:solidFill>
                <a:latin typeface="Aptos"/>
                <a:ea typeface="Aptos"/>
                <a:cs typeface="Aptos"/>
              </a:rPr>
              <a:t>Architecture cible</a:t>
            </a:r>
          </a:p>
        </p:txBody>
      </p:sp>
      <p:sp>
        <p:nvSpPr>
          <p:cNvPr id="2" name="">
            <a:extLst xmlns:a="http://schemas.openxmlformats.org/drawingml/2006/main">
              <a:ext uri="{FF2B5EF4-FFF2-40B4-BE49-F238E27FC236}">
                <a16:creationId xmlns:a16="http://schemas.microsoft.com/office/drawing/2014/main" id="{6EFE1912-DBC2-4914-8D44-02D41A71E864}"/>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6F5BE504-74BB-404C-BBB3-8D6FC8B3CED7}"/>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2E847E-2DE2-4A8A-A8BF-B1B81175D219}"/>
              </a:ext>
            </a:extLst>
          </p:cNvPr>
          <p:cNvSpPr>
            <a:spLocks xmlns:a="http://schemas.openxmlformats.org/drawingml/2006/main" noGrp="1"/>
          </p:cNvSpPr>
          <p:nvPr/>
        </p:nvSpPr>
        <p:spPr>
          <a:xfrm xmlns:a="http://schemas.openxmlformats.org/drawingml/2006/main">
            <a:off x="762000" y="1762125"/>
            <a:ext cx="1619250" cy="1047750"/>
          </a:xfrm>
          <a:prstGeom xmlns:a="http://schemas.openxmlformats.org/drawingml/2006/main" prst="roundRect">
            <a:avLst>
              <a:gd name="adj" fmla="val 7273"/>
            </a:avLst>
          </a:prstGeom>
          <a:solidFill xmlns:a="http://schemas.openxmlformats.org/drawingml/2006/main">
            <a:srgbClr val="47BF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618F05E-7F15-48F6-8481-4B80EEA16CAF}"/>
              </a:ext>
            </a:extLst>
          </p:cNvPr>
          <p:cNvSpPr>
            <a:spLocks xmlns:a="http://schemas.openxmlformats.org/drawingml/2006/main" noGrp="1"/>
          </p:cNvSpPr>
          <p:nvPr/>
        </p:nvSpPr>
        <p:spPr>
          <a:xfrm xmlns:a="http://schemas.openxmlformats.org/drawingml/2006/main">
            <a:off x="933450" y="19240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GitLab</a:t>
            </a:r>
          </a:p>
        </p:txBody>
      </p:sp>
      <p:sp>
        <p:nvSpPr>
          <p:cNvPr id="6" name="">
            <a:extLst xmlns:a="http://schemas.openxmlformats.org/drawingml/2006/main">
              <a:ext uri="{FF2B5EF4-FFF2-40B4-BE49-F238E27FC236}">
                <a16:creationId xmlns:a16="http://schemas.microsoft.com/office/drawing/2014/main" id="{7D32E60C-D110-4CFE-8D40-434E7F622EF0}"/>
              </a:ext>
            </a:extLst>
          </p:cNvPr>
          <p:cNvSpPr>
            <a:spLocks xmlns:a="http://schemas.openxmlformats.org/drawingml/2006/main" noGrp="1"/>
          </p:cNvSpPr>
          <p:nvPr/>
        </p:nvSpPr>
        <p:spPr>
          <a:xfrm xmlns:a="http://schemas.openxmlformats.org/drawingml/2006/main">
            <a:off x="895350" y="2276475"/>
            <a:ext cx="1352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source + CI</a:t>
            </a:r>
          </a:p>
        </p:txBody>
      </p:sp>
      <p:sp>
        <p:nvSpPr>
          <p:cNvPr id="7" name="">
            <a:extLst xmlns:a="http://schemas.openxmlformats.org/drawingml/2006/main">
              <a:ext uri="{FF2B5EF4-FFF2-40B4-BE49-F238E27FC236}">
                <a16:creationId xmlns:a16="http://schemas.microsoft.com/office/drawing/2014/main" id="{5DA9FE2D-7BED-432E-83B3-68540B9DA788}"/>
              </a:ext>
            </a:extLst>
          </p:cNvPr>
          <p:cNvSpPr>
            <a:spLocks xmlns:a="http://schemas.openxmlformats.org/drawingml/2006/main" noGrp="1"/>
          </p:cNvSpPr>
          <p:nvPr/>
        </p:nvSpPr>
        <p:spPr>
          <a:xfrm xmlns:a="http://schemas.openxmlformats.org/drawingml/2006/main">
            <a:off x="3000375" y="1762125"/>
            <a:ext cx="1619250" cy="1047750"/>
          </a:xfrm>
          <a:prstGeom xmlns:a="http://schemas.openxmlformats.org/drawingml/2006/main" prst="roundRect">
            <a:avLst>
              <a:gd name="adj" fmla="val 7273"/>
            </a:avLst>
          </a:prstGeom>
          <a:solidFill xmlns:a="http://schemas.openxmlformats.org/drawingml/2006/main">
            <a:srgbClr val="34D39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EA4CE1D-A3B3-4326-A719-B52650F1DC29}"/>
              </a:ext>
            </a:extLst>
          </p:cNvPr>
          <p:cNvSpPr>
            <a:spLocks xmlns:a="http://schemas.openxmlformats.org/drawingml/2006/main" noGrp="1"/>
          </p:cNvSpPr>
          <p:nvPr/>
        </p:nvSpPr>
        <p:spPr>
          <a:xfrm xmlns:a="http://schemas.openxmlformats.org/drawingml/2006/main">
            <a:off x="3171825" y="19240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Registry</a:t>
            </a:r>
          </a:p>
        </p:txBody>
      </p:sp>
      <p:sp>
        <p:nvSpPr>
          <p:cNvPr id="9" name="">
            <a:extLst xmlns:a="http://schemas.openxmlformats.org/drawingml/2006/main">
              <a:ext uri="{FF2B5EF4-FFF2-40B4-BE49-F238E27FC236}">
                <a16:creationId xmlns:a16="http://schemas.microsoft.com/office/drawing/2014/main" id="{4FF1E1A2-25F7-4889-A35E-C5635825964B}"/>
              </a:ext>
            </a:extLst>
          </p:cNvPr>
          <p:cNvSpPr>
            <a:spLocks xmlns:a="http://schemas.openxmlformats.org/drawingml/2006/main" noGrp="1"/>
          </p:cNvSpPr>
          <p:nvPr/>
        </p:nvSpPr>
        <p:spPr>
          <a:xfrm xmlns:a="http://schemas.openxmlformats.org/drawingml/2006/main">
            <a:off x="3133725" y="2276475"/>
            <a:ext cx="1352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image par SHA</a:t>
            </a:r>
          </a:p>
        </p:txBody>
      </p:sp>
      <p:sp>
        <p:nvSpPr>
          <p:cNvPr id="10" name="">
            <a:extLst xmlns:a="http://schemas.openxmlformats.org/drawingml/2006/main">
              <a:ext uri="{FF2B5EF4-FFF2-40B4-BE49-F238E27FC236}">
                <a16:creationId xmlns:a16="http://schemas.microsoft.com/office/drawing/2014/main" id="{FC884406-2613-421A-B2FF-34B894AF30F1}"/>
              </a:ext>
            </a:extLst>
          </p:cNvPr>
          <p:cNvSpPr>
            <a:spLocks xmlns:a="http://schemas.openxmlformats.org/drawingml/2006/main" noGrp="1"/>
          </p:cNvSpPr>
          <p:nvPr/>
        </p:nvSpPr>
        <p:spPr>
          <a:xfrm xmlns:a="http://schemas.openxmlformats.org/drawingml/2006/main">
            <a:off x="5238750" y="1762125"/>
            <a:ext cx="1619250" cy="1047750"/>
          </a:xfrm>
          <a:prstGeom xmlns:a="http://schemas.openxmlformats.org/drawingml/2006/main" prst="roundRect">
            <a:avLst>
              <a:gd name="adj" fmla="val 7273"/>
            </a:avLst>
          </a:prstGeom>
          <a:solidFill xmlns:a="http://schemas.openxmlformats.org/drawingml/2006/main">
            <a:srgbClr val="FF7A6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A032EF-E52B-44E6-8672-39516C7B229C}"/>
              </a:ext>
            </a:extLst>
          </p:cNvPr>
          <p:cNvSpPr>
            <a:spLocks xmlns:a="http://schemas.openxmlformats.org/drawingml/2006/main" noGrp="1"/>
          </p:cNvSpPr>
          <p:nvPr/>
        </p:nvSpPr>
        <p:spPr>
          <a:xfrm xmlns:a="http://schemas.openxmlformats.org/drawingml/2006/main">
            <a:off x="5410200" y="19240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K3s</a:t>
            </a:r>
          </a:p>
        </p:txBody>
      </p:sp>
      <p:sp>
        <p:nvSpPr>
          <p:cNvPr id="12" name="">
            <a:extLst xmlns:a="http://schemas.openxmlformats.org/drawingml/2006/main">
              <a:ext uri="{FF2B5EF4-FFF2-40B4-BE49-F238E27FC236}">
                <a16:creationId xmlns:a16="http://schemas.microsoft.com/office/drawing/2014/main" id="{EB72657A-7E0D-44D4-8D67-741CAA32C2CE}"/>
              </a:ext>
            </a:extLst>
          </p:cNvPr>
          <p:cNvSpPr>
            <a:spLocks xmlns:a="http://schemas.openxmlformats.org/drawingml/2006/main" noGrp="1"/>
          </p:cNvSpPr>
          <p:nvPr/>
        </p:nvSpPr>
        <p:spPr>
          <a:xfrm xmlns:a="http://schemas.openxmlformats.org/drawingml/2006/main">
            <a:off x="5372100" y="2276475"/>
            <a:ext cx="1352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staging + prod</a:t>
            </a:r>
          </a:p>
        </p:txBody>
      </p:sp>
      <p:sp>
        <p:nvSpPr>
          <p:cNvPr id="13" name="">
            <a:extLst xmlns:a="http://schemas.openxmlformats.org/drawingml/2006/main">
              <a:ext uri="{FF2B5EF4-FFF2-40B4-BE49-F238E27FC236}">
                <a16:creationId xmlns:a16="http://schemas.microsoft.com/office/drawing/2014/main" id="{CAA74BAD-9705-482B-92A5-F997A2CD668B}"/>
              </a:ext>
            </a:extLst>
          </p:cNvPr>
          <p:cNvSpPr>
            <a:spLocks xmlns:a="http://schemas.openxmlformats.org/drawingml/2006/main" noGrp="1"/>
          </p:cNvSpPr>
          <p:nvPr/>
        </p:nvSpPr>
        <p:spPr>
          <a:xfrm xmlns:a="http://schemas.openxmlformats.org/drawingml/2006/main">
            <a:off x="7477125" y="1762125"/>
            <a:ext cx="1619250" cy="1047750"/>
          </a:xfrm>
          <a:prstGeom xmlns:a="http://schemas.openxmlformats.org/drawingml/2006/main" prst="roundRect">
            <a:avLst>
              <a:gd name="adj" fmla="val 7273"/>
            </a:avLst>
          </a:prstGeom>
          <a:solidFill xmlns:a="http://schemas.openxmlformats.org/drawingml/2006/main">
            <a:srgbClr val="F3F8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58B51E-9082-407B-8D34-805C1E1049A6}"/>
              </a:ext>
            </a:extLst>
          </p:cNvPr>
          <p:cNvSpPr>
            <a:spLocks xmlns:a="http://schemas.openxmlformats.org/drawingml/2006/main" noGrp="1"/>
          </p:cNvSpPr>
          <p:nvPr/>
        </p:nvSpPr>
        <p:spPr>
          <a:xfrm xmlns:a="http://schemas.openxmlformats.org/drawingml/2006/main">
            <a:off x="7648575" y="19240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17303C"/>
                </a:solidFill>
                <a:latin typeface="Aptos"/>
                <a:ea typeface="Aptos"/>
                <a:cs typeface="Aptos"/>
              </a:defRPr>
            </a:pPr>
            <a:r>
              <a:rPr sz="1575" b="1">
                <a:solidFill>
                  <a:srgbClr val="17303C"/>
                </a:solidFill>
                <a:latin typeface="Aptos"/>
                <a:ea typeface="Aptos"/>
                <a:cs typeface="Aptos"/>
              </a:rPr>
              <a:t>API</a:t>
            </a:r>
          </a:p>
        </p:txBody>
      </p:sp>
      <p:sp>
        <p:nvSpPr>
          <p:cNvPr id="15" name="">
            <a:extLst xmlns:a="http://schemas.openxmlformats.org/drawingml/2006/main">
              <a:ext uri="{FF2B5EF4-FFF2-40B4-BE49-F238E27FC236}">
                <a16:creationId xmlns:a16="http://schemas.microsoft.com/office/drawing/2014/main" id="{C5B477ED-A16B-450D-B4D5-B51AB211C6B3}"/>
              </a:ext>
            </a:extLst>
          </p:cNvPr>
          <p:cNvSpPr>
            <a:spLocks xmlns:a="http://schemas.openxmlformats.org/drawingml/2006/main" noGrp="1"/>
          </p:cNvSpPr>
          <p:nvPr/>
        </p:nvSpPr>
        <p:spPr>
          <a:xfrm xmlns:a="http://schemas.openxmlformats.org/drawingml/2006/main">
            <a:off x="7610475" y="2276475"/>
            <a:ext cx="1352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17303C"/>
                </a:solidFill>
                <a:latin typeface="Aptos"/>
                <a:ea typeface="Aptos"/>
                <a:cs typeface="Aptos"/>
              </a:defRPr>
            </a:pPr>
            <a:r>
              <a:rPr sz="1050" b="0">
                <a:solidFill>
                  <a:srgbClr val="17303C"/>
                </a:solidFill>
                <a:latin typeface="Aptos"/>
                <a:ea typeface="Aptos"/>
                <a:cs typeface="Aptos"/>
              </a:rPr>
              <a:t>2 pods + HPA</a:t>
            </a:r>
          </a:p>
        </p:txBody>
      </p:sp>
      <p:sp>
        <p:nvSpPr>
          <p:cNvPr id="16" name="">
            <a:extLst xmlns:a="http://schemas.openxmlformats.org/drawingml/2006/main">
              <a:ext uri="{FF2B5EF4-FFF2-40B4-BE49-F238E27FC236}">
                <a16:creationId xmlns:a16="http://schemas.microsoft.com/office/drawing/2014/main" id="{A9ABCEC4-C1AB-49E0-8FE0-4EEABE6328B0}"/>
              </a:ext>
            </a:extLst>
          </p:cNvPr>
          <p:cNvSpPr>
            <a:spLocks xmlns:a="http://schemas.openxmlformats.org/drawingml/2006/main" noGrp="1"/>
          </p:cNvSpPr>
          <p:nvPr/>
        </p:nvSpPr>
        <p:spPr>
          <a:xfrm xmlns:a="http://schemas.openxmlformats.org/drawingml/2006/main">
            <a:off x="7477125" y="4095750"/>
            <a:ext cx="1619250" cy="1000125"/>
          </a:xfrm>
          <a:prstGeom xmlns:a="http://schemas.openxmlformats.org/drawingml/2006/main" prst="roundRect">
            <a:avLst>
              <a:gd name="adj" fmla="val 7619"/>
            </a:avLst>
          </a:prstGeom>
          <a:solidFill xmlns:a="http://schemas.openxmlformats.org/drawingml/2006/main">
            <a:srgbClr val="F6C85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6267E5D-DF9C-4535-BA05-6B03F8927041}"/>
              </a:ext>
            </a:extLst>
          </p:cNvPr>
          <p:cNvSpPr>
            <a:spLocks xmlns:a="http://schemas.openxmlformats.org/drawingml/2006/main" noGrp="1"/>
          </p:cNvSpPr>
          <p:nvPr/>
        </p:nvSpPr>
        <p:spPr>
          <a:xfrm xmlns:a="http://schemas.openxmlformats.org/drawingml/2006/main">
            <a:off x="7648575" y="4257675"/>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40"/>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Prometheus</a:t>
            </a:r>
          </a:p>
        </p:txBody>
      </p:sp>
      <p:sp>
        <p:nvSpPr>
          <p:cNvPr id="18" name="">
            <a:extLst xmlns:a="http://schemas.openxmlformats.org/drawingml/2006/main">
              <a:ext uri="{FF2B5EF4-FFF2-40B4-BE49-F238E27FC236}">
                <a16:creationId xmlns:a16="http://schemas.microsoft.com/office/drawing/2014/main" id="{1F0E7E5B-4269-4D8A-A54E-C9A7927BD8DC}"/>
              </a:ext>
            </a:extLst>
          </p:cNvPr>
          <p:cNvSpPr>
            <a:spLocks xmlns:a="http://schemas.openxmlformats.org/drawingml/2006/main" noGrp="1"/>
          </p:cNvSpPr>
          <p:nvPr/>
        </p:nvSpPr>
        <p:spPr>
          <a:xfrm xmlns:a="http://schemas.openxmlformats.org/drawingml/2006/main">
            <a:off x="7610475" y="4610100"/>
            <a:ext cx="1352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scrape /metrics</a:t>
            </a:r>
          </a:p>
        </p:txBody>
      </p:sp>
      <p:sp>
        <p:nvSpPr>
          <p:cNvPr id="19" name="">
            <a:extLst xmlns:a="http://schemas.openxmlformats.org/drawingml/2006/main">
              <a:ext uri="{FF2B5EF4-FFF2-40B4-BE49-F238E27FC236}">
                <a16:creationId xmlns:a16="http://schemas.microsoft.com/office/drawing/2014/main" id="{4781B3A8-B1A6-4348-9A3C-3BA81164AAC4}"/>
              </a:ext>
            </a:extLst>
          </p:cNvPr>
          <p:cNvSpPr>
            <a:spLocks xmlns:a="http://schemas.openxmlformats.org/drawingml/2006/main" noGrp="1"/>
          </p:cNvSpPr>
          <p:nvPr/>
        </p:nvSpPr>
        <p:spPr>
          <a:xfrm xmlns:a="http://schemas.openxmlformats.org/drawingml/2006/main">
            <a:off x="9715500" y="4095750"/>
            <a:ext cx="1619250" cy="1000125"/>
          </a:xfrm>
          <a:prstGeom xmlns:a="http://schemas.openxmlformats.org/drawingml/2006/main" prst="roundRect">
            <a:avLst>
              <a:gd name="adj" fmla="val 7619"/>
            </a:avLst>
          </a:prstGeom>
          <a:solidFill xmlns:a="http://schemas.openxmlformats.org/drawingml/2006/main">
            <a:srgbClr val="47BFF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803E61E-8EB5-4A68-A4EC-22A47A9C7E6B}"/>
              </a:ext>
            </a:extLst>
          </p:cNvPr>
          <p:cNvSpPr>
            <a:spLocks xmlns:a="http://schemas.openxmlformats.org/drawingml/2006/main" noGrp="1"/>
          </p:cNvSpPr>
          <p:nvPr/>
        </p:nvSpPr>
        <p:spPr>
          <a:xfrm xmlns:a="http://schemas.openxmlformats.org/drawingml/2006/main">
            <a:off x="9886950" y="4257675"/>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Grafana</a:t>
            </a:r>
          </a:p>
        </p:txBody>
      </p:sp>
      <p:sp>
        <p:nvSpPr>
          <p:cNvPr id="21" name="">
            <a:extLst xmlns:a="http://schemas.openxmlformats.org/drawingml/2006/main">
              <a:ext uri="{FF2B5EF4-FFF2-40B4-BE49-F238E27FC236}">
                <a16:creationId xmlns:a16="http://schemas.microsoft.com/office/drawing/2014/main" id="{1B609FA3-57D5-4A86-9677-F1B5188DD3CA}"/>
              </a:ext>
            </a:extLst>
          </p:cNvPr>
          <p:cNvSpPr>
            <a:spLocks xmlns:a="http://schemas.openxmlformats.org/drawingml/2006/main" noGrp="1"/>
          </p:cNvSpPr>
          <p:nvPr/>
        </p:nvSpPr>
        <p:spPr>
          <a:xfrm xmlns:a="http://schemas.openxmlformats.org/drawingml/2006/main">
            <a:off x="9848850" y="4610100"/>
            <a:ext cx="1352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dashboard</a:t>
            </a:r>
          </a:p>
        </p:txBody>
      </p:sp>
      <p:sp>
        <p:nvSpPr>
          <p:cNvPr id="22" name="">
            <a:extLst xmlns:a="http://schemas.openxmlformats.org/drawingml/2006/main">
              <a:ext uri="{FF2B5EF4-FFF2-40B4-BE49-F238E27FC236}">
                <a16:creationId xmlns:a16="http://schemas.microsoft.com/office/drawing/2014/main" id="{CFFBF3B1-7264-4A31-BDD6-25800A2140DD}"/>
              </a:ext>
            </a:extLst>
          </p:cNvPr>
          <p:cNvSpPr>
            <a:spLocks xmlns:a="http://schemas.openxmlformats.org/drawingml/2006/main" noGrp="1"/>
          </p:cNvSpPr>
          <p:nvPr/>
        </p:nvSpPr>
        <p:spPr>
          <a:xfrm xmlns:a="http://schemas.openxmlformats.org/drawingml/2006/main">
            <a:off x="2381250" y="2266950"/>
            <a:ext cx="619125"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1EBED7-3908-4974-B9E3-52B90DC213D1}"/>
              </a:ext>
            </a:extLst>
          </p:cNvPr>
          <p:cNvSpPr>
            <a:spLocks xmlns:a="http://schemas.openxmlformats.org/drawingml/2006/main" noGrp="1"/>
          </p:cNvSpPr>
          <p:nvPr/>
        </p:nvSpPr>
        <p:spPr>
          <a:xfrm xmlns:a="http://schemas.openxmlformats.org/drawingml/2006/main">
            <a:off x="2962275" y="2095500"/>
            <a:ext cx="209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4377"/>
          </a:bodyPr>
          <a:lstStyle xmlns:a="http://schemas.openxmlformats.org/drawingml/2006/main"/>
          <a:p xmlns:a="http://schemas.openxmlformats.org/drawingml/2006/main">
            <a:pPr algn="l">
              <a:defRPr sz="1800" b="1">
                <a:solidFill>
                  <a:srgbClr val="9CB4BF"/>
                </a:solidFill>
                <a:latin typeface="Aptos"/>
                <a:ea typeface="Aptos"/>
                <a:cs typeface="Aptos"/>
              </a:defRPr>
            </a:pPr>
            <a:r>
              <a:rPr sz="1800" b="1">
                <a:solidFill>
                  <a:srgbClr val="9CB4BF"/>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BBB9EDAA-9473-43C5-84B3-C47C662EBBB0}"/>
              </a:ext>
            </a:extLst>
          </p:cNvPr>
          <p:cNvSpPr>
            <a:spLocks xmlns:a="http://schemas.openxmlformats.org/drawingml/2006/main" noGrp="1"/>
          </p:cNvSpPr>
          <p:nvPr/>
        </p:nvSpPr>
        <p:spPr>
          <a:xfrm xmlns:a="http://schemas.openxmlformats.org/drawingml/2006/main">
            <a:off x="4619625" y="2266950"/>
            <a:ext cx="619125"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F81E799-31FE-4079-BF05-D7A80C08DCFB}"/>
              </a:ext>
            </a:extLst>
          </p:cNvPr>
          <p:cNvSpPr>
            <a:spLocks xmlns:a="http://schemas.openxmlformats.org/drawingml/2006/main" noGrp="1"/>
          </p:cNvSpPr>
          <p:nvPr/>
        </p:nvSpPr>
        <p:spPr>
          <a:xfrm xmlns:a="http://schemas.openxmlformats.org/drawingml/2006/main">
            <a:off x="5200650" y="2095500"/>
            <a:ext cx="209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4377"/>
          </a:bodyPr>
          <a:lstStyle xmlns:a="http://schemas.openxmlformats.org/drawingml/2006/main"/>
          <a:p xmlns:a="http://schemas.openxmlformats.org/drawingml/2006/main">
            <a:pPr algn="l">
              <a:defRPr sz="1800" b="1">
                <a:solidFill>
                  <a:srgbClr val="9CB4BF"/>
                </a:solidFill>
                <a:latin typeface="Aptos"/>
                <a:ea typeface="Aptos"/>
                <a:cs typeface="Aptos"/>
              </a:defRPr>
            </a:pPr>
            <a:r>
              <a:rPr sz="1800" b="1">
                <a:solidFill>
                  <a:srgbClr val="9CB4B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559A6CC1-36AD-44B6-9487-56D705936F21}"/>
              </a:ext>
            </a:extLst>
          </p:cNvPr>
          <p:cNvSpPr>
            <a:spLocks xmlns:a="http://schemas.openxmlformats.org/drawingml/2006/main" noGrp="1"/>
          </p:cNvSpPr>
          <p:nvPr/>
        </p:nvSpPr>
        <p:spPr>
          <a:xfrm xmlns:a="http://schemas.openxmlformats.org/drawingml/2006/main">
            <a:off x="6858000" y="2266950"/>
            <a:ext cx="619125"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8EEA5AF-0A1B-4010-8592-4E3D033255F9}"/>
              </a:ext>
            </a:extLst>
          </p:cNvPr>
          <p:cNvSpPr>
            <a:spLocks xmlns:a="http://schemas.openxmlformats.org/drawingml/2006/main" noGrp="1"/>
          </p:cNvSpPr>
          <p:nvPr/>
        </p:nvSpPr>
        <p:spPr>
          <a:xfrm xmlns:a="http://schemas.openxmlformats.org/drawingml/2006/main">
            <a:off x="7439025" y="2095500"/>
            <a:ext cx="209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4377"/>
          </a:bodyPr>
          <a:lstStyle xmlns:a="http://schemas.openxmlformats.org/drawingml/2006/main"/>
          <a:p xmlns:a="http://schemas.openxmlformats.org/drawingml/2006/main">
            <a:pPr algn="l">
              <a:defRPr sz="1800" b="1">
                <a:solidFill>
                  <a:srgbClr val="9CB4BF"/>
                </a:solidFill>
                <a:latin typeface="Aptos"/>
                <a:ea typeface="Aptos"/>
                <a:cs typeface="Aptos"/>
              </a:defRPr>
            </a:pPr>
            <a:r>
              <a:rPr sz="1800" b="1">
                <a:solidFill>
                  <a:srgbClr val="9CB4BF"/>
                </a:solidFill>
                <a:latin typeface="Aptos"/>
                <a:ea typeface="Aptos"/>
                <a:cs typeface="Aptos"/>
              </a:rPr>
              <a:t>›</a:t>
            </a:r>
          </a:p>
        </p:txBody>
      </p:sp>
      <p:sp>
        <p:nvSpPr>
          <p:cNvPr id="28" name="">
            <a:extLst xmlns:a="http://schemas.openxmlformats.org/drawingml/2006/main">
              <a:ext uri="{FF2B5EF4-FFF2-40B4-BE49-F238E27FC236}">
                <a16:creationId xmlns:a16="http://schemas.microsoft.com/office/drawing/2014/main" id="{64021351-1D91-4B99-9ADA-18253EEDE19C}"/>
              </a:ext>
            </a:extLst>
          </p:cNvPr>
          <p:cNvSpPr>
            <a:spLocks xmlns:a="http://schemas.openxmlformats.org/drawingml/2006/main" noGrp="1"/>
          </p:cNvSpPr>
          <p:nvPr/>
        </p:nvSpPr>
        <p:spPr>
          <a:xfrm xmlns:a="http://schemas.openxmlformats.org/drawingml/2006/main">
            <a:off x="8267700" y="2809875"/>
            <a:ext cx="38100" cy="1285875"/>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149C342-6BB7-42FF-B313-0216C2CFB96F}"/>
              </a:ext>
            </a:extLst>
          </p:cNvPr>
          <p:cNvSpPr>
            <a:spLocks xmlns:a="http://schemas.openxmlformats.org/drawingml/2006/main" noGrp="1"/>
          </p:cNvSpPr>
          <p:nvPr/>
        </p:nvSpPr>
        <p:spPr>
          <a:xfrm xmlns:a="http://schemas.openxmlformats.org/drawingml/2006/main">
            <a:off x="8153400" y="3914775"/>
            <a:ext cx="26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9434"/>
          </a:bodyPr>
          <a:lstStyle xmlns:a="http://schemas.openxmlformats.org/drawingml/2006/main"/>
          <a:p xmlns:a="http://schemas.openxmlformats.org/drawingml/2006/main">
            <a:pPr algn="ctr">
              <a:defRPr sz="1650" b="1">
                <a:solidFill>
                  <a:srgbClr val="9CB4BF"/>
                </a:solidFill>
                <a:latin typeface="Aptos"/>
                <a:ea typeface="Aptos"/>
                <a:cs typeface="Aptos"/>
              </a:defRPr>
            </a:pPr>
            <a:r>
              <a:rPr sz="1650" b="1">
                <a:solidFill>
                  <a:srgbClr val="9CB4BF"/>
                </a:solidFill>
                <a:latin typeface="Aptos"/>
                <a:ea typeface="Aptos"/>
                <a:cs typeface="Aptos"/>
              </a:rPr>
              <a:t>⌄</a:t>
            </a:r>
          </a:p>
        </p:txBody>
      </p:sp>
      <p:sp>
        <p:nvSpPr>
          <p:cNvPr id="30" name="">
            <a:extLst xmlns:a="http://schemas.openxmlformats.org/drawingml/2006/main">
              <a:ext uri="{FF2B5EF4-FFF2-40B4-BE49-F238E27FC236}">
                <a16:creationId xmlns:a16="http://schemas.microsoft.com/office/drawing/2014/main" id="{0F311F9C-1A85-4633-9AD4-58D6CC5D1AB1}"/>
              </a:ext>
            </a:extLst>
          </p:cNvPr>
          <p:cNvSpPr>
            <a:spLocks xmlns:a="http://schemas.openxmlformats.org/drawingml/2006/main" noGrp="1"/>
          </p:cNvSpPr>
          <p:nvPr/>
        </p:nvSpPr>
        <p:spPr>
          <a:xfrm xmlns:a="http://schemas.openxmlformats.org/drawingml/2006/main">
            <a:off x="9096375" y="4572000"/>
            <a:ext cx="619125"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78154A3-7A58-4B5E-AD01-FF2C2D1AF261}"/>
              </a:ext>
            </a:extLst>
          </p:cNvPr>
          <p:cNvSpPr>
            <a:spLocks xmlns:a="http://schemas.openxmlformats.org/drawingml/2006/main" noGrp="1"/>
          </p:cNvSpPr>
          <p:nvPr/>
        </p:nvSpPr>
        <p:spPr>
          <a:xfrm xmlns:a="http://schemas.openxmlformats.org/drawingml/2006/main">
            <a:off x="9582150" y="4400550"/>
            <a:ext cx="209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4377"/>
          </a:bodyPr>
          <a:lstStyle xmlns:a="http://schemas.openxmlformats.org/drawingml/2006/main"/>
          <a:p xmlns:a="http://schemas.openxmlformats.org/drawingml/2006/main">
            <a:pPr algn="l">
              <a:defRPr sz="1800" b="1">
                <a:solidFill>
                  <a:srgbClr val="9CB4BF"/>
                </a:solidFill>
                <a:latin typeface="Aptos"/>
                <a:ea typeface="Aptos"/>
                <a:cs typeface="Aptos"/>
              </a:defRPr>
            </a:pPr>
            <a:r>
              <a:rPr sz="1800" b="1">
                <a:solidFill>
                  <a:srgbClr val="9CB4BF"/>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08CEB68B-F684-47AD-BF14-9125FA7C09A8}"/>
              </a:ext>
            </a:extLst>
          </p:cNvPr>
          <p:cNvSpPr>
            <a:spLocks xmlns:a="http://schemas.openxmlformats.org/drawingml/2006/main" noGrp="1"/>
          </p:cNvSpPr>
          <p:nvPr/>
        </p:nvSpPr>
        <p:spPr>
          <a:xfrm xmlns:a="http://schemas.openxmlformats.org/drawingml/2006/main">
            <a:off x="762000" y="5572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1">
                <a:solidFill>
                  <a:srgbClr val="EAF4F3"/>
                </a:solidFill>
                <a:latin typeface="Aptos"/>
                <a:ea typeface="Aptos"/>
                <a:cs typeface="Aptos"/>
              </a:defRPr>
            </a:pPr>
            <a:r>
              <a:rPr sz="1875" b="1">
                <a:solidFill>
                  <a:srgbClr val="EAF4F3"/>
                </a:solidFill>
                <a:latin typeface="Aptos"/>
                <a:ea typeface="Aptos"/>
                <a:cs typeface="Aptos"/>
              </a:rPr>
              <a:t>Un même identifiant relie le commit, l'image et le déploiement</a:t>
            </a:r>
          </a:p>
        </p:txBody>
      </p:sp>
      <p:sp>
        <p:nvSpPr>
          <p:cNvPr id="33" name="">
            <a:extLst xmlns:a="http://schemas.openxmlformats.org/drawingml/2006/main">
              <a:ext uri="{FF2B5EF4-FFF2-40B4-BE49-F238E27FC236}">
                <a16:creationId xmlns:a16="http://schemas.microsoft.com/office/drawing/2014/main" id="{FB0B1FE2-63AF-41D6-9987-2035A18C0774}"/>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9CB4BF"/>
                </a:solidFill>
                <a:latin typeface="Aptos"/>
                <a:ea typeface="Aptos"/>
                <a:cs typeface="Aptos"/>
              </a:defRPr>
            </a:pPr>
            <a:r>
              <a:rPr sz="975" b="0">
                <a:solidFill>
                  <a:srgbClr val="9CB4BF"/>
                </a:solidFill>
                <a:latin typeface="Aptos"/>
                <a:ea typeface="Aptos"/>
                <a:cs typeface="Aptos"/>
              </a:rPr>
              <a:t>Architecture éditable · flux principal et boucle d'observabilité</a:t>
            </a:r>
          </a:p>
        </p:txBody>
      </p:sp>
    </p:spTree>
    <p:extLst>
      <p:ext uri="{BB962C8B-B14F-4D97-AF65-F5344CB8AC3E}">
        <p14:creationId xmlns:p14="http://schemas.microsoft.com/office/powerpoint/2010/main" val="1861905402"/>
      </p:ext>
    </p:extLst>
  </p:cSld>
</p:sld>
</file>

<file path=ppt/slides/slide4.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8E702D4-7209-4178-8CB4-C4BB9A349BE9}"/>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EAF4F3"/>
                </a:solidFill>
                <a:latin typeface="Aptos"/>
                <a:ea typeface="Aptos"/>
                <a:cs typeface="Aptos"/>
              </a:defRPr>
            </a:pPr>
            <a:r>
              <a:rPr sz="2550" b="1">
                <a:solidFill>
                  <a:srgbClr val="EAF4F3"/>
                </a:solidFill>
                <a:latin typeface="Aptos"/>
                <a:ea typeface="Aptos"/>
                <a:cs typeface="Aptos"/>
              </a:rPr>
              <a:t>Pipeline GitLab CI</a:t>
            </a:r>
          </a:p>
        </p:txBody>
      </p:sp>
      <p:sp>
        <p:nvSpPr>
          <p:cNvPr id="2" name="">
            <a:extLst xmlns:a="http://schemas.openxmlformats.org/drawingml/2006/main">
              <a:ext uri="{FF2B5EF4-FFF2-40B4-BE49-F238E27FC236}">
                <a16:creationId xmlns:a16="http://schemas.microsoft.com/office/drawing/2014/main" id="{557BDEF9-4F0C-4137-9002-9BC67D77A1E4}"/>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D8F8EF94-B549-48E4-B50A-C24A0AE16DD9}"/>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3A20DD-AA5E-4030-9F69-00A68CA43AD2}"/>
              </a:ext>
            </a:extLst>
          </p:cNvPr>
          <p:cNvSpPr>
            <a:spLocks xmlns:a="http://schemas.openxmlformats.org/drawingml/2006/main" noGrp="1"/>
          </p:cNvSpPr>
          <p:nvPr/>
        </p:nvSpPr>
        <p:spPr>
          <a:xfrm xmlns:a="http://schemas.openxmlformats.org/drawingml/2006/main">
            <a:off x="647700" y="1571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47BFF2"/>
                </a:solidFill>
                <a:latin typeface="Aptos"/>
                <a:ea typeface="Aptos"/>
                <a:cs typeface="Aptos"/>
              </a:defRPr>
            </a:pPr>
            <a:r>
              <a:rPr sz="2100" b="1">
                <a:solidFill>
                  <a:srgbClr val="47BFF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3963F37F-13A7-45E8-9872-AC9A182D1BE3}"/>
              </a:ext>
            </a:extLst>
          </p:cNvPr>
          <p:cNvSpPr>
            <a:spLocks xmlns:a="http://schemas.openxmlformats.org/drawingml/2006/main" noGrp="1"/>
          </p:cNvSpPr>
          <p:nvPr/>
        </p:nvSpPr>
        <p:spPr>
          <a:xfrm xmlns:a="http://schemas.openxmlformats.org/drawingml/2006/main">
            <a:off x="647700" y="20955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EAF4F3"/>
                </a:solidFill>
                <a:latin typeface="Aptos"/>
                <a:ea typeface="Aptos"/>
                <a:cs typeface="Aptos"/>
              </a:defRPr>
            </a:pPr>
            <a:r>
              <a:rPr sz="1425" b="1">
                <a:solidFill>
                  <a:srgbClr val="EAF4F3"/>
                </a:solidFill>
                <a:latin typeface="Aptos"/>
                <a:ea typeface="Aptos"/>
                <a:cs typeface="Aptos"/>
              </a:rPr>
              <a:t>VALIDATE</a:t>
            </a:r>
          </a:p>
        </p:txBody>
      </p:sp>
      <p:sp>
        <p:nvSpPr>
          <p:cNvPr id="6" name="">
            <a:extLst xmlns:a="http://schemas.openxmlformats.org/drawingml/2006/main">
              <a:ext uri="{FF2B5EF4-FFF2-40B4-BE49-F238E27FC236}">
                <a16:creationId xmlns:a16="http://schemas.microsoft.com/office/drawing/2014/main" id="{AF3F25C6-5B10-4CE1-B9CB-D1D948B3B865}"/>
              </a:ext>
            </a:extLst>
          </p:cNvPr>
          <p:cNvSpPr>
            <a:spLocks xmlns:a="http://schemas.openxmlformats.org/drawingml/2006/main" noGrp="1"/>
          </p:cNvSpPr>
          <p:nvPr/>
        </p:nvSpPr>
        <p:spPr>
          <a:xfrm xmlns:a="http://schemas.openxmlformats.org/drawingml/2006/main">
            <a:off x="647700" y="26193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Ruff</a:t>
            </a:r>
          </a:p>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Kustomize</a:t>
            </a:r>
          </a:p>
        </p:txBody>
      </p:sp>
      <p:sp>
        <p:nvSpPr>
          <p:cNvPr id="7" name="">
            <a:extLst xmlns:a="http://schemas.openxmlformats.org/drawingml/2006/main">
              <a:ext uri="{FF2B5EF4-FFF2-40B4-BE49-F238E27FC236}">
                <a16:creationId xmlns:a16="http://schemas.microsoft.com/office/drawing/2014/main" id="{44291663-0115-4DC3-AE14-67627C22E943}"/>
              </a:ext>
            </a:extLst>
          </p:cNvPr>
          <p:cNvSpPr>
            <a:spLocks xmlns:a="http://schemas.openxmlformats.org/drawingml/2006/main" noGrp="1"/>
          </p:cNvSpPr>
          <p:nvPr/>
        </p:nvSpPr>
        <p:spPr>
          <a:xfrm xmlns:a="http://schemas.openxmlformats.org/drawingml/2006/main">
            <a:off x="2457450" y="2266950"/>
            <a:ext cx="333375" cy="28575"/>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866AC9-3103-40FE-9BD3-839FFC5A8542}"/>
              </a:ext>
            </a:extLst>
          </p:cNvPr>
          <p:cNvSpPr>
            <a:spLocks xmlns:a="http://schemas.openxmlformats.org/drawingml/2006/main" noGrp="1"/>
          </p:cNvSpPr>
          <p:nvPr/>
        </p:nvSpPr>
        <p:spPr>
          <a:xfrm xmlns:a="http://schemas.openxmlformats.org/drawingml/2006/main">
            <a:off x="2933700" y="1571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34D399"/>
                </a:solidFill>
                <a:latin typeface="Aptos"/>
                <a:ea typeface="Aptos"/>
                <a:cs typeface="Aptos"/>
              </a:defRPr>
            </a:pPr>
            <a:r>
              <a:rPr sz="2100" b="1">
                <a:solidFill>
                  <a:srgbClr val="34D399"/>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3B3C4398-4DF1-4951-B10B-60D2679C2293}"/>
              </a:ext>
            </a:extLst>
          </p:cNvPr>
          <p:cNvSpPr>
            <a:spLocks xmlns:a="http://schemas.openxmlformats.org/drawingml/2006/main" noGrp="1"/>
          </p:cNvSpPr>
          <p:nvPr/>
        </p:nvSpPr>
        <p:spPr>
          <a:xfrm xmlns:a="http://schemas.openxmlformats.org/drawingml/2006/main">
            <a:off x="2933700" y="20955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EAF4F3"/>
                </a:solidFill>
                <a:latin typeface="Aptos"/>
                <a:ea typeface="Aptos"/>
                <a:cs typeface="Aptos"/>
              </a:defRPr>
            </a:pPr>
            <a:r>
              <a:rPr sz="1425" b="1">
                <a:solidFill>
                  <a:srgbClr val="EAF4F3"/>
                </a:solidFill>
                <a:latin typeface="Aptos"/>
                <a:ea typeface="Aptos"/>
                <a:cs typeface="Aptos"/>
              </a:rPr>
              <a:t>TEST</a:t>
            </a:r>
          </a:p>
        </p:txBody>
      </p:sp>
      <p:sp>
        <p:nvSpPr>
          <p:cNvPr id="10" name="">
            <a:extLst xmlns:a="http://schemas.openxmlformats.org/drawingml/2006/main">
              <a:ext uri="{FF2B5EF4-FFF2-40B4-BE49-F238E27FC236}">
                <a16:creationId xmlns:a16="http://schemas.microsoft.com/office/drawing/2014/main" id="{EDE9FD6D-12DF-4086-8E0F-FA540B8C41FA}"/>
              </a:ext>
            </a:extLst>
          </p:cNvPr>
          <p:cNvSpPr>
            <a:spLocks xmlns:a="http://schemas.openxmlformats.org/drawingml/2006/main" noGrp="1"/>
          </p:cNvSpPr>
          <p:nvPr/>
        </p:nvSpPr>
        <p:spPr>
          <a:xfrm xmlns:a="http://schemas.openxmlformats.org/drawingml/2006/main">
            <a:off x="2933700" y="26193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pytest</a:t>
            </a:r>
          </a:p>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 90 %</a:t>
            </a:r>
          </a:p>
        </p:txBody>
      </p:sp>
      <p:sp>
        <p:nvSpPr>
          <p:cNvPr id="11" name="">
            <a:extLst xmlns:a="http://schemas.openxmlformats.org/drawingml/2006/main">
              <a:ext uri="{FF2B5EF4-FFF2-40B4-BE49-F238E27FC236}">
                <a16:creationId xmlns:a16="http://schemas.microsoft.com/office/drawing/2014/main" id="{44B72884-27AC-4D43-90D3-650D4ED6A8E1}"/>
              </a:ext>
            </a:extLst>
          </p:cNvPr>
          <p:cNvSpPr>
            <a:spLocks xmlns:a="http://schemas.openxmlformats.org/drawingml/2006/main" noGrp="1"/>
          </p:cNvSpPr>
          <p:nvPr/>
        </p:nvSpPr>
        <p:spPr>
          <a:xfrm xmlns:a="http://schemas.openxmlformats.org/drawingml/2006/main">
            <a:off x="4743450" y="2266950"/>
            <a:ext cx="333375" cy="28575"/>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A08C01F-4B11-4452-A5E7-7248ECD131FC}"/>
              </a:ext>
            </a:extLst>
          </p:cNvPr>
          <p:cNvSpPr>
            <a:spLocks xmlns:a="http://schemas.openxmlformats.org/drawingml/2006/main" noGrp="1"/>
          </p:cNvSpPr>
          <p:nvPr/>
        </p:nvSpPr>
        <p:spPr>
          <a:xfrm xmlns:a="http://schemas.openxmlformats.org/drawingml/2006/main">
            <a:off x="5219700" y="1571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F6C85F"/>
                </a:solidFill>
                <a:latin typeface="Aptos"/>
                <a:ea typeface="Aptos"/>
                <a:cs typeface="Aptos"/>
              </a:defRPr>
            </a:pPr>
            <a:r>
              <a:rPr sz="2100" b="1">
                <a:solidFill>
                  <a:srgbClr val="F6C85F"/>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18687AFE-40C0-4152-9255-71AF857A49B8}"/>
              </a:ext>
            </a:extLst>
          </p:cNvPr>
          <p:cNvSpPr>
            <a:spLocks xmlns:a="http://schemas.openxmlformats.org/drawingml/2006/main" noGrp="1"/>
          </p:cNvSpPr>
          <p:nvPr/>
        </p:nvSpPr>
        <p:spPr>
          <a:xfrm xmlns:a="http://schemas.openxmlformats.org/drawingml/2006/main">
            <a:off x="5219700" y="20955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EAF4F3"/>
                </a:solidFill>
                <a:latin typeface="Aptos"/>
                <a:ea typeface="Aptos"/>
                <a:cs typeface="Aptos"/>
              </a:defRPr>
            </a:pPr>
            <a:r>
              <a:rPr sz="1425" b="1">
                <a:solidFill>
                  <a:srgbClr val="EAF4F3"/>
                </a:solidFill>
                <a:latin typeface="Aptos"/>
                <a:ea typeface="Aptos"/>
                <a:cs typeface="Aptos"/>
              </a:rPr>
              <a:t>PACKAGE</a:t>
            </a:r>
          </a:p>
        </p:txBody>
      </p:sp>
      <p:sp>
        <p:nvSpPr>
          <p:cNvPr id="14" name="">
            <a:extLst xmlns:a="http://schemas.openxmlformats.org/drawingml/2006/main">
              <a:ext uri="{FF2B5EF4-FFF2-40B4-BE49-F238E27FC236}">
                <a16:creationId xmlns:a16="http://schemas.microsoft.com/office/drawing/2014/main" id="{D803D2C4-A24F-47C1-90D4-15A8A99C6F38}"/>
              </a:ext>
            </a:extLst>
          </p:cNvPr>
          <p:cNvSpPr>
            <a:spLocks xmlns:a="http://schemas.openxmlformats.org/drawingml/2006/main" noGrp="1"/>
          </p:cNvSpPr>
          <p:nvPr/>
        </p:nvSpPr>
        <p:spPr>
          <a:xfrm xmlns:a="http://schemas.openxmlformats.org/drawingml/2006/main">
            <a:off x="5219700" y="26193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Docker</a:t>
            </a:r>
          </a:p>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push SHA</a:t>
            </a:r>
          </a:p>
        </p:txBody>
      </p:sp>
      <p:sp>
        <p:nvSpPr>
          <p:cNvPr id="15" name="">
            <a:extLst xmlns:a="http://schemas.openxmlformats.org/drawingml/2006/main">
              <a:ext uri="{FF2B5EF4-FFF2-40B4-BE49-F238E27FC236}">
                <a16:creationId xmlns:a16="http://schemas.microsoft.com/office/drawing/2014/main" id="{751461B2-8B45-4AAA-8FEA-49DF527AB72E}"/>
              </a:ext>
            </a:extLst>
          </p:cNvPr>
          <p:cNvSpPr>
            <a:spLocks xmlns:a="http://schemas.openxmlformats.org/drawingml/2006/main" noGrp="1"/>
          </p:cNvSpPr>
          <p:nvPr/>
        </p:nvSpPr>
        <p:spPr>
          <a:xfrm xmlns:a="http://schemas.openxmlformats.org/drawingml/2006/main">
            <a:off x="7029450" y="2266950"/>
            <a:ext cx="333375" cy="28575"/>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B6FB897-3D06-431B-A8FC-8CAB344C7C71}"/>
              </a:ext>
            </a:extLst>
          </p:cNvPr>
          <p:cNvSpPr>
            <a:spLocks xmlns:a="http://schemas.openxmlformats.org/drawingml/2006/main" noGrp="1"/>
          </p:cNvSpPr>
          <p:nvPr/>
        </p:nvSpPr>
        <p:spPr>
          <a:xfrm xmlns:a="http://schemas.openxmlformats.org/drawingml/2006/main">
            <a:off x="7505700" y="1571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FF7A6E"/>
                </a:solidFill>
                <a:latin typeface="Aptos"/>
                <a:ea typeface="Aptos"/>
                <a:cs typeface="Aptos"/>
              </a:defRPr>
            </a:pPr>
            <a:r>
              <a:rPr sz="2100" b="1">
                <a:solidFill>
                  <a:srgbClr val="FF7A6E"/>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72A5D35E-D66E-4E1C-B549-E8C68A212031}"/>
              </a:ext>
            </a:extLst>
          </p:cNvPr>
          <p:cNvSpPr>
            <a:spLocks xmlns:a="http://schemas.openxmlformats.org/drawingml/2006/main" noGrp="1"/>
          </p:cNvSpPr>
          <p:nvPr/>
        </p:nvSpPr>
        <p:spPr>
          <a:xfrm xmlns:a="http://schemas.openxmlformats.org/drawingml/2006/main">
            <a:off x="7505700" y="20955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EAF4F3"/>
                </a:solidFill>
                <a:latin typeface="Aptos"/>
                <a:ea typeface="Aptos"/>
                <a:cs typeface="Aptos"/>
              </a:defRPr>
            </a:pPr>
            <a:r>
              <a:rPr sz="1425" b="1">
                <a:solidFill>
                  <a:srgbClr val="EAF4F3"/>
                </a:solidFill>
                <a:latin typeface="Aptos"/>
                <a:ea typeface="Aptos"/>
                <a:cs typeface="Aptos"/>
              </a:rPr>
              <a:t>SECURITY</a:t>
            </a:r>
          </a:p>
        </p:txBody>
      </p:sp>
      <p:sp>
        <p:nvSpPr>
          <p:cNvPr id="18" name="">
            <a:extLst xmlns:a="http://schemas.openxmlformats.org/drawingml/2006/main">
              <a:ext uri="{FF2B5EF4-FFF2-40B4-BE49-F238E27FC236}">
                <a16:creationId xmlns:a16="http://schemas.microsoft.com/office/drawing/2014/main" id="{87EF78CD-7894-4025-B9C1-D7DE70D8313F}"/>
              </a:ext>
            </a:extLst>
          </p:cNvPr>
          <p:cNvSpPr>
            <a:spLocks xmlns:a="http://schemas.openxmlformats.org/drawingml/2006/main" noGrp="1"/>
          </p:cNvSpPr>
          <p:nvPr/>
        </p:nvSpPr>
        <p:spPr>
          <a:xfrm xmlns:a="http://schemas.openxmlformats.org/drawingml/2006/main">
            <a:off x="7505700" y="26193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02"/>
          </a:bodyPr>
          <a:lstStyle xmlns:a="http://schemas.openxmlformats.org/drawingml/2006/main"/>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Trivy</a:t>
            </a:r>
          </a:p>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HIGH + CRITICAL</a:t>
            </a:r>
          </a:p>
        </p:txBody>
      </p:sp>
      <p:sp>
        <p:nvSpPr>
          <p:cNvPr id="19" name="">
            <a:extLst xmlns:a="http://schemas.openxmlformats.org/drawingml/2006/main">
              <a:ext uri="{FF2B5EF4-FFF2-40B4-BE49-F238E27FC236}">
                <a16:creationId xmlns:a16="http://schemas.microsoft.com/office/drawing/2014/main" id="{69CF2F59-7A9F-494D-80E3-04669B5A7463}"/>
              </a:ext>
            </a:extLst>
          </p:cNvPr>
          <p:cNvSpPr>
            <a:spLocks xmlns:a="http://schemas.openxmlformats.org/drawingml/2006/main" noGrp="1"/>
          </p:cNvSpPr>
          <p:nvPr/>
        </p:nvSpPr>
        <p:spPr>
          <a:xfrm xmlns:a="http://schemas.openxmlformats.org/drawingml/2006/main">
            <a:off x="9315450" y="2266950"/>
            <a:ext cx="333375" cy="28575"/>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A774B34-3FB2-4C3D-93BA-5C1EB387386A}"/>
              </a:ext>
            </a:extLst>
          </p:cNvPr>
          <p:cNvSpPr>
            <a:spLocks xmlns:a="http://schemas.openxmlformats.org/drawingml/2006/main" noGrp="1"/>
          </p:cNvSpPr>
          <p:nvPr/>
        </p:nvSpPr>
        <p:spPr>
          <a:xfrm xmlns:a="http://schemas.openxmlformats.org/drawingml/2006/main">
            <a:off x="9791700" y="1571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F3F8F7"/>
                </a:solidFill>
                <a:latin typeface="Aptos"/>
                <a:ea typeface="Aptos"/>
                <a:cs typeface="Aptos"/>
              </a:defRPr>
            </a:pPr>
            <a:r>
              <a:rPr sz="2100" b="1">
                <a:solidFill>
                  <a:srgbClr val="F3F8F7"/>
                </a:solidFill>
                <a:latin typeface="Aptos"/>
                <a:ea typeface="Aptos"/>
                <a:cs typeface="Aptos"/>
              </a:rPr>
              <a:t>05</a:t>
            </a:r>
          </a:p>
        </p:txBody>
      </p:sp>
      <p:sp>
        <p:nvSpPr>
          <p:cNvPr id="21" name="">
            <a:extLst xmlns:a="http://schemas.openxmlformats.org/drawingml/2006/main">
              <a:ext uri="{FF2B5EF4-FFF2-40B4-BE49-F238E27FC236}">
                <a16:creationId xmlns:a16="http://schemas.microsoft.com/office/drawing/2014/main" id="{AC9B3A9C-F781-452C-96C4-145CBF19FB21}"/>
              </a:ext>
            </a:extLst>
          </p:cNvPr>
          <p:cNvSpPr>
            <a:spLocks xmlns:a="http://schemas.openxmlformats.org/drawingml/2006/main" noGrp="1"/>
          </p:cNvSpPr>
          <p:nvPr/>
        </p:nvSpPr>
        <p:spPr>
          <a:xfrm xmlns:a="http://schemas.openxmlformats.org/drawingml/2006/main">
            <a:off x="9791700" y="20955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EAF4F3"/>
                </a:solidFill>
                <a:latin typeface="Aptos"/>
                <a:ea typeface="Aptos"/>
                <a:cs typeface="Aptos"/>
              </a:defRPr>
            </a:pPr>
            <a:r>
              <a:rPr sz="1425" b="1">
                <a:solidFill>
                  <a:srgbClr val="EAF4F3"/>
                </a:solidFill>
                <a:latin typeface="Aptos"/>
                <a:ea typeface="Aptos"/>
                <a:cs typeface="Aptos"/>
              </a:rPr>
              <a:t>DEPLOY</a:t>
            </a:r>
          </a:p>
        </p:txBody>
      </p:sp>
      <p:sp>
        <p:nvSpPr>
          <p:cNvPr id="22" name="">
            <a:extLst xmlns:a="http://schemas.openxmlformats.org/drawingml/2006/main">
              <a:ext uri="{FF2B5EF4-FFF2-40B4-BE49-F238E27FC236}">
                <a16:creationId xmlns:a16="http://schemas.microsoft.com/office/drawing/2014/main" id="{C99359D1-34FB-47F4-82A7-84A2ABC31A94}"/>
              </a:ext>
            </a:extLst>
          </p:cNvPr>
          <p:cNvSpPr>
            <a:spLocks xmlns:a="http://schemas.openxmlformats.org/drawingml/2006/main" noGrp="1"/>
          </p:cNvSpPr>
          <p:nvPr/>
        </p:nvSpPr>
        <p:spPr>
          <a:xfrm xmlns:a="http://schemas.openxmlformats.org/drawingml/2006/main">
            <a:off x="9791700" y="26193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staging auto</a:t>
            </a:r>
          </a:p>
          <a:p xmlns:a="http://schemas.openxmlformats.org/drawingml/2006/main">
            <a:pPr algn="l">
              <a:defRPr sz="1575" b="0">
                <a:solidFill>
                  <a:srgbClr val="9CB4BF"/>
                </a:solidFill>
                <a:latin typeface="Aptos"/>
                <a:ea typeface="Aptos"/>
                <a:cs typeface="Aptos"/>
              </a:defRPr>
            </a:pPr>
            <a:r>
              <a:rPr sz="1575" b="0">
                <a:solidFill>
                  <a:srgbClr val="9CB4BF"/>
                </a:solidFill>
                <a:latin typeface="Aptos"/>
                <a:ea typeface="Aptos"/>
                <a:cs typeface="Aptos"/>
              </a:rPr>
              <a:t>prod manuelle</a:t>
            </a:r>
          </a:p>
        </p:txBody>
      </p:sp>
      <p:sp>
        <p:nvSpPr>
          <p:cNvPr id="23" name="">
            <a:extLst xmlns:a="http://schemas.openxmlformats.org/drawingml/2006/main">
              <a:ext uri="{FF2B5EF4-FFF2-40B4-BE49-F238E27FC236}">
                <a16:creationId xmlns:a16="http://schemas.microsoft.com/office/drawing/2014/main" id="{C7312857-8D3A-4B27-AC7C-28D659D57549}"/>
              </a:ext>
            </a:extLst>
          </p:cNvPr>
          <p:cNvSpPr>
            <a:spLocks xmlns:a="http://schemas.openxmlformats.org/drawingml/2006/main" noGrp="1"/>
          </p:cNvSpPr>
          <p:nvPr/>
        </p:nvSpPr>
        <p:spPr>
          <a:xfrm xmlns:a="http://schemas.openxmlformats.org/drawingml/2006/main">
            <a:off x="666750" y="3952875"/>
            <a:ext cx="10763250" cy="19050"/>
          </a:xfrm>
          <a:prstGeom xmlns:a="http://schemas.openxmlformats.org/drawingml/2006/main" prst="rect">
            <a:avLst/>
          </a:prstGeom>
          <a:solidFill xmlns:a="http://schemas.openxmlformats.org/drawingml/2006/main">
            <a:srgbClr val="0D263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9E0E226-8363-443A-912B-5258256F7F21}"/>
              </a:ext>
            </a:extLst>
          </p:cNvPr>
          <p:cNvSpPr>
            <a:spLocks xmlns:a="http://schemas.openxmlformats.org/drawingml/2006/main" noGrp="1"/>
          </p:cNvSpPr>
          <p:nvPr/>
        </p:nvSpPr>
        <p:spPr>
          <a:xfrm xmlns:a="http://schemas.openxmlformats.org/drawingml/2006/main">
            <a:off x="762000" y="43338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47BFF2"/>
                </a:solidFill>
                <a:latin typeface="Aptos"/>
                <a:ea typeface="Aptos"/>
                <a:cs typeface="Aptos"/>
              </a:defRPr>
            </a:pPr>
            <a:r>
              <a:rPr sz="1650" b="1">
                <a:solidFill>
                  <a:srgbClr val="47BFF2"/>
                </a:solidFill>
                <a:latin typeface="Aptos"/>
                <a:ea typeface="Aptos"/>
                <a:cs typeface="Aptos"/>
              </a:rPr>
              <a:t>develop</a:t>
            </a:r>
          </a:p>
        </p:txBody>
      </p:sp>
      <p:sp>
        <p:nvSpPr>
          <p:cNvPr id="25" name="">
            <a:extLst xmlns:a="http://schemas.openxmlformats.org/drawingml/2006/main">
              <a:ext uri="{FF2B5EF4-FFF2-40B4-BE49-F238E27FC236}">
                <a16:creationId xmlns:a16="http://schemas.microsoft.com/office/drawing/2014/main" id="{2B52B742-1943-465B-8C73-5E69B344729B}"/>
              </a:ext>
            </a:extLst>
          </p:cNvPr>
          <p:cNvSpPr>
            <a:spLocks xmlns:a="http://schemas.openxmlformats.org/drawingml/2006/main" noGrp="1"/>
          </p:cNvSpPr>
          <p:nvPr/>
        </p:nvSpPr>
        <p:spPr>
          <a:xfrm xmlns:a="http://schemas.openxmlformats.org/drawingml/2006/main">
            <a:off x="2476500" y="4333875"/>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EAF4F3"/>
                </a:solidFill>
                <a:latin typeface="Aptos"/>
                <a:ea typeface="Aptos"/>
                <a:cs typeface="Aptos"/>
              </a:defRPr>
            </a:pPr>
            <a:r>
              <a:rPr sz="1575" b="0">
                <a:solidFill>
                  <a:srgbClr val="EAF4F3"/>
                </a:solidFill>
                <a:latin typeface="Aptos"/>
                <a:ea typeface="Aptos"/>
                <a:cs typeface="Aptos"/>
              </a:rPr>
              <a:t>déploiement automatique vers staging</a:t>
            </a:r>
          </a:p>
        </p:txBody>
      </p:sp>
      <p:sp>
        <p:nvSpPr>
          <p:cNvPr id="26" name="">
            <a:extLst xmlns:a="http://schemas.openxmlformats.org/drawingml/2006/main">
              <a:ext uri="{FF2B5EF4-FFF2-40B4-BE49-F238E27FC236}">
                <a16:creationId xmlns:a16="http://schemas.microsoft.com/office/drawing/2014/main" id="{D3938751-D4ED-454D-A585-B616F84052B1}"/>
              </a:ext>
            </a:extLst>
          </p:cNvPr>
          <p:cNvSpPr>
            <a:spLocks xmlns:a="http://schemas.openxmlformats.org/drawingml/2006/main" noGrp="1"/>
          </p:cNvSpPr>
          <p:nvPr/>
        </p:nvSpPr>
        <p:spPr>
          <a:xfrm xmlns:a="http://schemas.openxmlformats.org/drawingml/2006/main">
            <a:off x="762000" y="50482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l">
              <a:defRPr sz="1650" b="1">
                <a:solidFill>
                  <a:srgbClr val="FF7A6E"/>
                </a:solidFill>
                <a:latin typeface="Aptos"/>
                <a:ea typeface="Aptos"/>
                <a:cs typeface="Aptos"/>
              </a:defRPr>
            </a:pPr>
            <a:r>
              <a:rPr sz="1650" b="1">
                <a:solidFill>
                  <a:srgbClr val="FF7A6E"/>
                </a:solidFill>
                <a:latin typeface="Aptos"/>
                <a:ea typeface="Aptos"/>
                <a:cs typeface="Aptos"/>
              </a:rPr>
              <a:t>main</a:t>
            </a:r>
          </a:p>
        </p:txBody>
      </p:sp>
      <p:sp>
        <p:nvSpPr>
          <p:cNvPr id="27" name="">
            <a:extLst xmlns:a="http://schemas.openxmlformats.org/drawingml/2006/main">
              <a:ext uri="{FF2B5EF4-FFF2-40B4-BE49-F238E27FC236}">
                <a16:creationId xmlns:a16="http://schemas.microsoft.com/office/drawing/2014/main" id="{E3641B06-BF13-41FE-8012-FAC1E7F78701}"/>
              </a:ext>
            </a:extLst>
          </p:cNvPr>
          <p:cNvSpPr>
            <a:spLocks xmlns:a="http://schemas.openxmlformats.org/drawingml/2006/main" noGrp="1"/>
          </p:cNvSpPr>
          <p:nvPr/>
        </p:nvSpPr>
        <p:spPr>
          <a:xfrm xmlns:a="http://schemas.openxmlformats.org/drawingml/2006/main">
            <a:off x="2476500" y="50482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EAF4F3"/>
                </a:solidFill>
                <a:latin typeface="Aptos"/>
                <a:ea typeface="Aptos"/>
                <a:cs typeface="Aptos"/>
              </a:defRPr>
            </a:pPr>
            <a:r>
              <a:rPr sz="1575" b="0">
                <a:solidFill>
                  <a:srgbClr val="EAF4F3"/>
                </a:solidFill>
                <a:latin typeface="Aptos"/>
                <a:ea typeface="Aptos"/>
                <a:cs typeface="Aptos"/>
              </a:rPr>
              <a:t>validation manuelle avant production</a:t>
            </a:r>
          </a:p>
        </p:txBody>
      </p:sp>
      <p:sp>
        <p:nvSpPr>
          <p:cNvPr id="28" name="">
            <a:extLst xmlns:a="http://schemas.openxmlformats.org/drawingml/2006/main">
              <a:ext uri="{FF2B5EF4-FFF2-40B4-BE49-F238E27FC236}">
                <a16:creationId xmlns:a16="http://schemas.microsoft.com/office/drawing/2014/main" id="{D202C426-A21E-41B3-9F80-F83E9254E905}"/>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9CB4BF"/>
                </a:solidFill>
                <a:latin typeface="Aptos"/>
                <a:ea typeface="Aptos"/>
                <a:cs typeface="Aptos"/>
              </a:defRPr>
            </a:pPr>
            <a:r>
              <a:rPr sz="975" b="0">
                <a:solidFill>
                  <a:srgbClr val="9CB4BF"/>
                </a:solidFill>
                <a:latin typeface="Aptos"/>
                <a:ea typeface="Aptos"/>
                <a:cs typeface="Aptos"/>
              </a:rPr>
              <a:t>ClassLab · Projet fil rouge</a:t>
            </a:r>
          </a:p>
        </p:txBody>
      </p:sp>
    </p:spTree>
    <p:extLst>
      <p:ext uri="{BB962C8B-B14F-4D97-AF65-F5344CB8AC3E}">
        <p14:creationId xmlns:p14="http://schemas.microsoft.com/office/powerpoint/2010/main" val="346810105"/>
      </p:ext>
    </p:extLst>
  </p:cSld>
</p:sld>
</file>

<file path=ppt/slides/slide5.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F3CDEC-FE8E-457D-A8AC-53529258EFE0}"/>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03C"/>
                </a:solidFill>
                <a:latin typeface="Aptos"/>
                <a:ea typeface="Aptos"/>
                <a:cs typeface="Aptos"/>
              </a:defRPr>
            </a:pPr>
            <a:r>
              <a:rPr sz="2550" b="1">
                <a:solidFill>
                  <a:srgbClr val="17303C"/>
                </a:solidFill>
                <a:latin typeface="Aptos"/>
                <a:ea typeface="Aptos"/>
                <a:cs typeface="Aptos"/>
              </a:rPr>
              <a:t>Sécurité de la chaîne</a:t>
            </a:r>
          </a:p>
        </p:txBody>
      </p:sp>
      <p:sp>
        <p:nvSpPr>
          <p:cNvPr id="2" name="">
            <a:extLst xmlns:a="http://schemas.openxmlformats.org/drawingml/2006/main">
              <a:ext uri="{FF2B5EF4-FFF2-40B4-BE49-F238E27FC236}">
                <a16:creationId xmlns:a16="http://schemas.microsoft.com/office/drawing/2014/main" id="{203A05CD-BF7A-4DDA-B2DD-198C3F99AF0C}"/>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FF7A6E"/>
                </a:solidFill>
                <a:latin typeface="Aptos"/>
                <a:ea typeface="Aptos"/>
                <a:cs typeface="Aptos"/>
              </a:defRPr>
            </a:pPr>
            <a:r>
              <a:rPr sz="1350" b="1">
                <a:solidFill>
                  <a:srgbClr val="FF7A6E"/>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81D67800-5C7F-4FB4-BCF2-FF288B3C7B94}"/>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FF7A6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5B7EA7-15B4-466D-8496-3740B4751376}"/>
              </a:ext>
            </a:extLst>
          </p:cNvPr>
          <p:cNvSpPr>
            <a:spLocks xmlns:a="http://schemas.openxmlformats.org/drawingml/2006/main" noGrp="1"/>
          </p:cNvSpPr>
          <p:nvPr/>
        </p:nvSpPr>
        <p:spPr>
          <a:xfrm xmlns:a="http://schemas.openxmlformats.org/drawingml/2006/main">
            <a:off x="762000" y="166687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F7A6E"/>
                </a:solidFill>
                <a:latin typeface="Aptos"/>
                <a:ea typeface="Aptos"/>
                <a:cs typeface="Aptos"/>
              </a:defRPr>
            </a:pPr>
            <a:r>
              <a:rPr sz="1350" b="1">
                <a:solidFill>
                  <a:srgbClr val="FF7A6E"/>
                </a:solidFill>
                <a:latin typeface="Aptos"/>
                <a:ea typeface="Aptos"/>
                <a:cs typeface="Aptos"/>
              </a:rPr>
              <a:t>AVANT</a:t>
            </a:r>
          </a:p>
        </p:txBody>
      </p:sp>
      <p:sp>
        <p:nvSpPr>
          <p:cNvPr id="5" name="">
            <a:extLst xmlns:a="http://schemas.openxmlformats.org/drawingml/2006/main">
              <a:ext uri="{FF2B5EF4-FFF2-40B4-BE49-F238E27FC236}">
                <a16:creationId xmlns:a16="http://schemas.microsoft.com/office/drawing/2014/main" id="{BDC48A10-D9C5-4B3C-87ED-23A1C7CE4485}"/>
              </a:ext>
            </a:extLst>
          </p:cNvPr>
          <p:cNvSpPr>
            <a:spLocks xmlns:a="http://schemas.openxmlformats.org/drawingml/2006/main" noGrp="1"/>
          </p:cNvSpPr>
          <p:nvPr/>
        </p:nvSpPr>
        <p:spPr>
          <a:xfrm xmlns:a="http://schemas.openxmlformats.org/drawingml/2006/main">
            <a:off x="762000" y="21431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17303C"/>
                </a:solidFill>
                <a:latin typeface="Aptos"/>
                <a:ea typeface="Aptos"/>
                <a:cs typeface="Aptos"/>
              </a:defRPr>
            </a:pPr>
            <a:r>
              <a:rPr sz="2625" b="1">
                <a:solidFill>
                  <a:srgbClr val="17303C"/>
                </a:solidFill>
                <a:latin typeface="Aptos"/>
                <a:ea typeface="Aptos"/>
                <a:cs typeface="Aptos"/>
              </a:rPr>
              <a:t>Image</a:t>
            </a:r>
          </a:p>
        </p:txBody>
      </p:sp>
      <p:sp>
        <p:nvSpPr>
          <p:cNvPr id="6" name="">
            <a:extLst xmlns:a="http://schemas.openxmlformats.org/drawingml/2006/main">
              <a:ext uri="{FF2B5EF4-FFF2-40B4-BE49-F238E27FC236}">
                <a16:creationId xmlns:a16="http://schemas.microsoft.com/office/drawing/2014/main" id="{60D3420A-FE3B-4C3F-BE3B-D8248837774E}"/>
              </a:ext>
            </a:extLst>
          </p:cNvPr>
          <p:cNvSpPr>
            <a:spLocks xmlns:a="http://schemas.openxmlformats.org/drawingml/2006/main" noGrp="1"/>
          </p:cNvSpPr>
          <p:nvPr/>
        </p:nvSpPr>
        <p:spPr>
          <a:xfrm xmlns:a="http://schemas.openxmlformats.org/drawingml/2006/main">
            <a:off x="762000" y="2905125"/>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Base slim multi-stage</a:t>
            </a:r>
          </a:p>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Dépendances figées</a:t>
            </a:r>
          </a:p>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Scan Trivy bloquant</a:t>
            </a:r>
          </a:p>
        </p:txBody>
      </p:sp>
      <p:sp>
        <p:nvSpPr>
          <p:cNvPr id="7" name="">
            <a:extLst xmlns:a="http://schemas.openxmlformats.org/drawingml/2006/main">
              <a:ext uri="{FF2B5EF4-FFF2-40B4-BE49-F238E27FC236}">
                <a16:creationId xmlns:a16="http://schemas.microsoft.com/office/drawing/2014/main" id="{7B79B65C-ECA6-4FD0-80FE-7D18EDFF69C4}"/>
              </a:ext>
            </a:extLst>
          </p:cNvPr>
          <p:cNvSpPr>
            <a:spLocks xmlns:a="http://schemas.openxmlformats.org/drawingml/2006/main" noGrp="1"/>
          </p:cNvSpPr>
          <p:nvPr/>
        </p:nvSpPr>
        <p:spPr>
          <a:xfrm xmlns:a="http://schemas.openxmlformats.org/drawingml/2006/main">
            <a:off x="5857875" y="1524000"/>
            <a:ext cx="28575" cy="4000500"/>
          </a:xfrm>
          <a:prstGeom xmlns:a="http://schemas.openxmlformats.org/drawingml/2006/main" prst="rect">
            <a:avLst/>
          </a:prstGeom>
          <a:solidFill xmlns:a="http://schemas.openxmlformats.org/drawingml/2006/main">
            <a:srgbClr val="CAD8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B314CD-01B9-41AA-8492-119A2B9DD1A8}"/>
              </a:ext>
            </a:extLst>
          </p:cNvPr>
          <p:cNvSpPr>
            <a:spLocks xmlns:a="http://schemas.openxmlformats.org/drawingml/2006/main" noGrp="1"/>
          </p:cNvSpPr>
          <p:nvPr/>
        </p:nvSpPr>
        <p:spPr>
          <a:xfrm xmlns:a="http://schemas.openxmlformats.org/drawingml/2006/main">
            <a:off x="6572250" y="166687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4D399"/>
                </a:solidFill>
                <a:latin typeface="Aptos"/>
                <a:ea typeface="Aptos"/>
                <a:cs typeface="Aptos"/>
              </a:defRPr>
            </a:pPr>
            <a:r>
              <a:rPr sz="1350" b="1">
                <a:solidFill>
                  <a:srgbClr val="34D399"/>
                </a:solidFill>
                <a:latin typeface="Aptos"/>
                <a:ea typeface="Aptos"/>
                <a:cs typeface="Aptos"/>
              </a:rPr>
              <a:t>PENDANT</a:t>
            </a:r>
          </a:p>
        </p:txBody>
      </p:sp>
      <p:sp>
        <p:nvSpPr>
          <p:cNvPr id="9" name="">
            <a:extLst xmlns:a="http://schemas.openxmlformats.org/drawingml/2006/main">
              <a:ext uri="{FF2B5EF4-FFF2-40B4-BE49-F238E27FC236}">
                <a16:creationId xmlns:a16="http://schemas.microsoft.com/office/drawing/2014/main" id="{7A1E9A93-A732-44A5-B6D2-C62ED4E4FC0A}"/>
              </a:ext>
            </a:extLst>
          </p:cNvPr>
          <p:cNvSpPr>
            <a:spLocks xmlns:a="http://schemas.openxmlformats.org/drawingml/2006/main" noGrp="1"/>
          </p:cNvSpPr>
          <p:nvPr/>
        </p:nvSpPr>
        <p:spPr>
          <a:xfrm xmlns:a="http://schemas.openxmlformats.org/drawingml/2006/main">
            <a:off x="6572250" y="21431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17303C"/>
                </a:solidFill>
                <a:latin typeface="Aptos"/>
                <a:ea typeface="Aptos"/>
                <a:cs typeface="Aptos"/>
              </a:defRPr>
            </a:pPr>
            <a:r>
              <a:rPr sz="2625" b="1">
                <a:solidFill>
                  <a:srgbClr val="17303C"/>
                </a:solidFill>
                <a:latin typeface="Aptos"/>
                <a:ea typeface="Aptos"/>
                <a:cs typeface="Aptos"/>
              </a:rPr>
              <a:t>Exécution</a:t>
            </a:r>
          </a:p>
        </p:txBody>
      </p:sp>
      <p:sp>
        <p:nvSpPr>
          <p:cNvPr id="10" name="">
            <a:extLst xmlns:a="http://schemas.openxmlformats.org/drawingml/2006/main">
              <a:ext uri="{FF2B5EF4-FFF2-40B4-BE49-F238E27FC236}">
                <a16:creationId xmlns:a16="http://schemas.microsoft.com/office/drawing/2014/main" id="{0861E23B-9089-4985-9E21-8A7A55AD12B3}"/>
              </a:ext>
            </a:extLst>
          </p:cNvPr>
          <p:cNvSpPr>
            <a:spLocks xmlns:a="http://schemas.openxmlformats.org/drawingml/2006/main" noGrp="1"/>
          </p:cNvSpPr>
          <p:nvPr/>
        </p:nvSpPr>
        <p:spPr>
          <a:xfrm xmlns:a="http://schemas.openxmlformats.org/drawingml/2006/main">
            <a:off x="6572250" y="2905125"/>
            <a:ext cx="4524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UID 10001 non-root</a:t>
            </a:r>
          </a:p>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Capabilities supprimées</a:t>
            </a:r>
          </a:p>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Système de fichiers en lecture seule</a:t>
            </a:r>
          </a:p>
          <a:p xmlns:a="http://schemas.openxmlformats.org/drawingml/2006/main">
            <a:pPr algn="l">
              <a:defRPr sz="1875" b="0">
                <a:solidFill>
                  <a:srgbClr val="536A74"/>
                </a:solidFill>
                <a:latin typeface="Aptos"/>
                <a:ea typeface="Aptos"/>
                <a:cs typeface="Aptos"/>
              </a:defRPr>
            </a:pPr>
            <a:r>
              <a:rPr sz="1875" b="0">
                <a:solidFill>
                  <a:srgbClr val="536A74"/>
                </a:solidFill>
                <a:latin typeface="Aptos"/>
                <a:ea typeface="Aptos"/>
                <a:cs typeface="Aptos"/>
              </a:rPr>
              <a:t>Aucun jeton Kubernetes automatique</a:t>
            </a:r>
          </a:p>
        </p:txBody>
      </p:sp>
      <p:sp>
        <p:nvSpPr>
          <p:cNvPr id="11" name="">
            <a:extLst xmlns:a="http://schemas.openxmlformats.org/drawingml/2006/main">
              <a:ext uri="{FF2B5EF4-FFF2-40B4-BE49-F238E27FC236}">
                <a16:creationId xmlns:a16="http://schemas.microsoft.com/office/drawing/2014/main" id="{A5A3C348-8609-4515-A75D-8D8A35B5BD00}"/>
              </a:ext>
            </a:extLst>
          </p:cNvPr>
          <p:cNvSpPr>
            <a:spLocks xmlns:a="http://schemas.openxmlformats.org/drawingml/2006/main" noGrp="1"/>
          </p:cNvSpPr>
          <p:nvPr/>
        </p:nvSpPr>
        <p:spPr>
          <a:xfrm xmlns:a="http://schemas.openxmlformats.org/drawingml/2006/main">
            <a:off x="762000" y="57150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950" b="1">
                <a:solidFill>
                  <a:srgbClr val="17303C"/>
                </a:solidFill>
                <a:latin typeface="Aptos"/>
                <a:ea typeface="Aptos"/>
                <a:cs typeface="Aptos"/>
              </a:defRPr>
            </a:pPr>
            <a:r>
              <a:rPr sz="1950" b="1">
                <a:solidFill>
                  <a:srgbClr val="17303C"/>
                </a:solidFill>
                <a:latin typeface="Aptos"/>
                <a:ea typeface="Aptos"/>
                <a:cs typeface="Aptos"/>
              </a:rPr>
              <a:t>Moindre privilège à chaque couche</a:t>
            </a:r>
          </a:p>
        </p:txBody>
      </p:sp>
    </p:spTree>
    <p:extLst>
      <p:ext uri="{BB962C8B-B14F-4D97-AF65-F5344CB8AC3E}">
        <p14:creationId xmlns:p14="http://schemas.microsoft.com/office/powerpoint/2010/main" val="1009004940"/>
      </p:ext>
    </p:extLst>
  </p:cSld>
</p:sld>
</file>

<file path=ppt/slides/slide6.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4292993-4CB9-40E2-B459-363A9D33E406}"/>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EAF4F3"/>
                </a:solidFill>
                <a:latin typeface="Aptos"/>
                <a:ea typeface="Aptos"/>
                <a:cs typeface="Aptos"/>
              </a:defRPr>
            </a:pPr>
            <a:r>
              <a:rPr sz="2550" b="1">
                <a:solidFill>
                  <a:srgbClr val="EAF4F3"/>
                </a:solidFill>
                <a:latin typeface="Aptos"/>
                <a:ea typeface="Aptos"/>
                <a:cs typeface="Aptos"/>
              </a:rPr>
              <a:t>Déploiement Kubernetes</a:t>
            </a:r>
          </a:p>
        </p:txBody>
      </p:sp>
      <p:sp>
        <p:nvSpPr>
          <p:cNvPr id="2" name="">
            <a:extLst xmlns:a="http://schemas.openxmlformats.org/drawingml/2006/main">
              <a:ext uri="{FF2B5EF4-FFF2-40B4-BE49-F238E27FC236}">
                <a16:creationId xmlns:a16="http://schemas.microsoft.com/office/drawing/2014/main" id="{A5AFFB5C-3DE7-42C2-932B-A0A2CA9C92BB}"/>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12866331-EF67-47EB-A5CF-0DD6FA916982}"/>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2AB4D8-688E-4E90-B248-3C21AB271915}"/>
              </a:ext>
            </a:extLst>
          </p:cNvPr>
          <p:cNvSpPr>
            <a:spLocks xmlns:a="http://schemas.openxmlformats.org/drawingml/2006/main" noGrp="1"/>
          </p:cNvSpPr>
          <p:nvPr/>
        </p:nvSpPr>
        <p:spPr>
          <a:xfrm xmlns:a="http://schemas.openxmlformats.org/drawingml/2006/main">
            <a:off x="904875" y="16954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47BFF2"/>
                </a:solidFill>
                <a:latin typeface="Aptos"/>
                <a:ea typeface="Aptos"/>
                <a:cs typeface="Aptos"/>
              </a:defRPr>
            </a:pPr>
            <a:r>
              <a:rPr sz="1650" b="1">
                <a:solidFill>
                  <a:srgbClr val="47BFF2"/>
                </a:solidFill>
                <a:latin typeface="Aptos"/>
                <a:ea typeface="Aptos"/>
                <a:cs typeface="Aptos"/>
              </a:rPr>
              <a:t>Traefik</a:t>
            </a:r>
          </a:p>
        </p:txBody>
      </p:sp>
      <p:sp>
        <p:nvSpPr>
          <p:cNvPr id="5" name="">
            <a:extLst xmlns:a="http://schemas.openxmlformats.org/drawingml/2006/main">
              <a:ext uri="{FF2B5EF4-FFF2-40B4-BE49-F238E27FC236}">
                <a16:creationId xmlns:a16="http://schemas.microsoft.com/office/drawing/2014/main" id="{EC64C65C-540B-4C1A-8058-7341679EAFD5}"/>
              </a:ext>
            </a:extLst>
          </p:cNvPr>
          <p:cNvSpPr>
            <a:spLocks xmlns:a="http://schemas.openxmlformats.org/drawingml/2006/main" noGrp="1"/>
          </p:cNvSpPr>
          <p:nvPr/>
        </p:nvSpPr>
        <p:spPr>
          <a:xfrm xmlns:a="http://schemas.openxmlformats.org/drawingml/2006/main">
            <a:off x="762000" y="2143125"/>
            <a:ext cx="1905000" cy="704850"/>
          </a:xfrm>
          <a:prstGeom xmlns:a="http://schemas.openxmlformats.org/drawingml/2006/main" prst="roundRect">
            <a:avLst>
              <a:gd name="adj" fmla="val 10811"/>
            </a:avLst>
          </a:prstGeom>
          <a:solidFill xmlns:a="http://schemas.openxmlformats.org/drawingml/2006/main">
            <a:srgbClr val="0D2638"/>
          </a:solidFill>
          <a:ln xmlns:a="http://schemas.openxmlformats.org/drawingml/2006/main" w="19050">
            <a:solidFill>
              <a:srgbClr val="47BFF2"/>
            </a:solidFill>
          </a:ln>
        </p:spPr>
      </p:sp>
      <p:sp>
        <p:nvSpPr>
          <p:cNvPr id="6" name="">
            <a:extLst xmlns:a="http://schemas.openxmlformats.org/drawingml/2006/main">
              <a:ext uri="{FF2B5EF4-FFF2-40B4-BE49-F238E27FC236}">
                <a16:creationId xmlns:a16="http://schemas.microsoft.com/office/drawing/2014/main" id="{CB8B61DF-EE5E-45D5-AE26-293F927D150C}"/>
              </a:ext>
            </a:extLst>
          </p:cNvPr>
          <p:cNvSpPr>
            <a:spLocks xmlns:a="http://schemas.openxmlformats.org/drawingml/2006/main" noGrp="1"/>
          </p:cNvSpPr>
          <p:nvPr/>
        </p:nvSpPr>
        <p:spPr>
          <a:xfrm xmlns:a="http://schemas.openxmlformats.org/drawingml/2006/main">
            <a:off x="904875" y="233362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ctr">
              <a:defRPr sz="1650" b="1">
                <a:solidFill>
                  <a:srgbClr val="EAF4F3"/>
                </a:solidFill>
                <a:latin typeface="Aptos"/>
                <a:ea typeface="Aptos"/>
                <a:cs typeface="Aptos"/>
              </a:defRPr>
            </a:pPr>
            <a:r>
              <a:rPr sz="1650" b="1">
                <a:solidFill>
                  <a:srgbClr val="EAF4F3"/>
                </a:solidFill>
                <a:latin typeface="Aptos"/>
                <a:ea typeface="Aptos"/>
                <a:cs typeface="Aptos"/>
              </a:rPr>
              <a:t>Ingress</a:t>
            </a:r>
          </a:p>
        </p:txBody>
      </p:sp>
      <p:sp>
        <p:nvSpPr>
          <p:cNvPr id="7" name="">
            <a:extLst xmlns:a="http://schemas.openxmlformats.org/drawingml/2006/main">
              <a:ext uri="{FF2B5EF4-FFF2-40B4-BE49-F238E27FC236}">
                <a16:creationId xmlns:a16="http://schemas.microsoft.com/office/drawing/2014/main" id="{E8EA69B0-3404-4DCC-94DA-17C1FFB9A680}"/>
              </a:ext>
            </a:extLst>
          </p:cNvPr>
          <p:cNvSpPr>
            <a:spLocks xmlns:a="http://schemas.openxmlformats.org/drawingml/2006/main" noGrp="1"/>
          </p:cNvSpPr>
          <p:nvPr/>
        </p:nvSpPr>
        <p:spPr>
          <a:xfrm xmlns:a="http://schemas.openxmlformats.org/drawingml/2006/main">
            <a:off x="2667000" y="2476500"/>
            <a:ext cx="1047750"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F7620F-9D6B-4BA7-B060-379638ECEB7C}"/>
              </a:ext>
            </a:extLst>
          </p:cNvPr>
          <p:cNvSpPr>
            <a:spLocks xmlns:a="http://schemas.openxmlformats.org/drawingml/2006/main" noGrp="1"/>
          </p:cNvSpPr>
          <p:nvPr/>
        </p:nvSpPr>
        <p:spPr>
          <a:xfrm xmlns:a="http://schemas.openxmlformats.org/drawingml/2006/main">
            <a:off x="3543300" y="2324100"/>
            <a:ext cx="209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4377"/>
          </a:bodyPr>
          <a:lstStyle xmlns:a="http://schemas.openxmlformats.org/drawingml/2006/main"/>
          <a:p xmlns:a="http://schemas.openxmlformats.org/drawingml/2006/main">
            <a:pPr algn="l">
              <a:defRPr sz="1800" b="1">
                <a:solidFill>
                  <a:srgbClr val="9CB4BF"/>
                </a:solidFill>
                <a:latin typeface="Aptos"/>
                <a:ea typeface="Aptos"/>
                <a:cs typeface="Aptos"/>
              </a:defRPr>
            </a:pPr>
            <a:r>
              <a:rPr sz="1800" b="1">
                <a:solidFill>
                  <a:srgbClr val="9CB4B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82D2C83A-C57D-4CDE-A669-7F1C6B81C746}"/>
              </a:ext>
            </a:extLst>
          </p:cNvPr>
          <p:cNvSpPr>
            <a:spLocks xmlns:a="http://schemas.openxmlformats.org/drawingml/2006/main" noGrp="1"/>
          </p:cNvSpPr>
          <p:nvPr/>
        </p:nvSpPr>
        <p:spPr>
          <a:xfrm xmlns:a="http://schemas.openxmlformats.org/drawingml/2006/main">
            <a:off x="3714750" y="2143125"/>
            <a:ext cx="1905000" cy="704850"/>
          </a:xfrm>
          <a:prstGeom xmlns:a="http://schemas.openxmlformats.org/drawingml/2006/main" prst="roundRect">
            <a:avLst>
              <a:gd name="adj" fmla="val 10811"/>
            </a:avLst>
          </a:prstGeom>
          <a:solidFill xmlns:a="http://schemas.openxmlformats.org/drawingml/2006/main">
            <a:srgbClr val="0D2638"/>
          </a:solidFill>
          <a:ln xmlns:a="http://schemas.openxmlformats.org/drawingml/2006/main" w="19050">
            <a:solidFill>
              <a:srgbClr val="34D399"/>
            </a:solidFill>
          </a:ln>
        </p:spPr>
      </p:sp>
      <p:sp>
        <p:nvSpPr>
          <p:cNvPr id="10" name="">
            <a:extLst xmlns:a="http://schemas.openxmlformats.org/drawingml/2006/main">
              <a:ext uri="{FF2B5EF4-FFF2-40B4-BE49-F238E27FC236}">
                <a16:creationId xmlns:a16="http://schemas.microsoft.com/office/drawing/2014/main" id="{95C76F2B-CA44-475E-8C13-B1FA78D66EDA}"/>
              </a:ext>
            </a:extLst>
          </p:cNvPr>
          <p:cNvSpPr>
            <a:spLocks xmlns:a="http://schemas.openxmlformats.org/drawingml/2006/main" noGrp="1"/>
          </p:cNvSpPr>
          <p:nvPr/>
        </p:nvSpPr>
        <p:spPr>
          <a:xfrm xmlns:a="http://schemas.openxmlformats.org/drawingml/2006/main">
            <a:off x="3857625" y="233362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lgn="ctr">
              <a:defRPr sz="1650" b="1">
                <a:solidFill>
                  <a:srgbClr val="EAF4F3"/>
                </a:solidFill>
                <a:latin typeface="Aptos"/>
                <a:ea typeface="Aptos"/>
                <a:cs typeface="Aptos"/>
              </a:defRPr>
            </a:pPr>
            <a:r>
              <a:rPr sz="1650" b="1">
                <a:solidFill>
                  <a:srgbClr val="EAF4F3"/>
                </a:solidFill>
                <a:latin typeface="Aptos"/>
                <a:ea typeface="Aptos"/>
                <a:cs typeface="Aptos"/>
              </a:rPr>
              <a:t>Service</a:t>
            </a:r>
          </a:p>
        </p:txBody>
      </p:sp>
      <p:sp>
        <p:nvSpPr>
          <p:cNvPr id="11" name="">
            <a:extLst xmlns:a="http://schemas.openxmlformats.org/drawingml/2006/main">
              <a:ext uri="{FF2B5EF4-FFF2-40B4-BE49-F238E27FC236}">
                <a16:creationId xmlns:a16="http://schemas.microsoft.com/office/drawing/2014/main" id="{8FDADBE9-D1F0-4CEA-ADC4-BB4DFDF7F4FD}"/>
              </a:ext>
            </a:extLst>
          </p:cNvPr>
          <p:cNvSpPr>
            <a:spLocks xmlns:a="http://schemas.openxmlformats.org/drawingml/2006/main" noGrp="1"/>
          </p:cNvSpPr>
          <p:nvPr/>
        </p:nvSpPr>
        <p:spPr>
          <a:xfrm xmlns:a="http://schemas.openxmlformats.org/drawingml/2006/main">
            <a:off x="5619750" y="2476500"/>
            <a:ext cx="857250"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68D4EF-EB59-4201-A84B-2F8034715941}"/>
              </a:ext>
            </a:extLst>
          </p:cNvPr>
          <p:cNvSpPr>
            <a:spLocks xmlns:a="http://schemas.openxmlformats.org/drawingml/2006/main" noGrp="1"/>
          </p:cNvSpPr>
          <p:nvPr/>
        </p:nvSpPr>
        <p:spPr>
          <a:xfrm xmlns:a="http://schemas.openxmlformats.org/drawingml/2006/main">
            <a:off x="6305550" y="2324100"/>
            <a:ext cx="209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4377"/>
          </a:bodyPr>
          <a:lstStyle xmlns:a="http://schemas.openxmlformats.org/drawingml/2006/main"/>
          <a:p xmlns:a="http://schemas.openxmlformats.org/drawingml/2006/main">
            <a:pPr algn="l">
              <a:defRPr sz="1800" b="1">
                <a:solidFill>
                  <a:srgbClr val="9CB4BF"/>
                </a:solidFill>
                <a:latin typeface="Aptos"/>
                <a:ea typeface="Aptos"/>
                <a:cs typeface="Aptos"/>
              </a:defRPr>
            </a:pPr>
            <a:r>
              <a:rPr sz="1800" b="1">
                <a:solidFill>
                  <a:srgbClr val="9CB4B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9F6A8766-A7C0-4360-B7ED-B58197D7E6F8}"/>
              </a:ext>
            </a:extLst>
          </p:cNvPr>
          <p:cNvSpPr>
            <a:spLocks xmlns:a="http://schemas.openxmlformats.org/drawingml/2006/main" noGrp="1"/>
          </p:cNvSpPr>
          <p:nvPr/>
        </p:nvSpPr>
        <p:spPr>
          <a:xfrm xmlns:a="http://schemas.openxmlformats.org/drawingml/2006/main">
            <a:off x="6477000" y="1666875"/>
            <a:ext cx="1714500" cy="1000125"/>
          </a:xfrm>
          <a:prstGeom xmlns:a="http://schemas.openxmlformats.org/drawingml/2006/main" prst="roundRect">
            <a:avLst>
              <a:gd name="adj" fmla="val 7619"/>
            </a:avLst>
          </a:prstGeom>
          <a:solidFill xmlns:a="http://schemas.openxmlformats.org/drawingml/2006/main">
            <a:srgbClr val="34D39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5F38154-ACD6-45E2-982D-7BB9FDF0EED7}"/>
              </a:ext>
            </a:extLst>
          </p:cNvPr>
          <p:cNvSpPr>
            <a:spLocks xmlns:a="http://schemas.openxmlformats.org/drawingml/2006/main" noGrp="1"/>
          </p:cNvSpPr>
          <p:nvPr/>
        </p:nvSpPr>
        <p:spPr>
          <a:xfrm xmlns:a="http://schemas.openxmlformats.org/drawingml/2006/main">
            <a:off x="6648450" y="1828800"/>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Pod A</a:t>
            </a:r>
          </a:p>
        </p:txBody>
      </p:sp>
      <p:sp>
        <p:nvSpPr>
          <p:cNvPr id="15" name="">
            <a:extLst xmlns:a="http://schemas.openxmlformats.org/drawingml/2006/main">
              <a:ext uri="{FF2B5EF4-FFF2-40B4-BE49-F238E27FC236}">
                <a16:creationId xmlns:a16="http://schemas.microsoft.com/office/drawing/2014/main" id="{9C241263-CD0C-4D20-94AF-B4FFB53A056B}"/>
              </a:ext>
            </a:extLst>
          </p:cNvPr>
          <p:cNvSpPr>
            <a:spLocks xmlns:a="http://schemas.openxmlformats.org/drawingml/2006/main" noGrp="1"/>
          </p:cNvSpPr>
          <p:nvPr/>
        </p:nvSpPr>
        <p:spPr>
          <a:xfrm xmlns:a="http://schemas.openxmlformats.org/drawingml/2006/main">
            <a:off x="6610350" y="2181225"/>
            <a:ext cx="144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ready</a:t>
            </a:r>
          </a:p>
        </p:txBody>
      </p:sp>
      <p:sp>
        <p:nvSpPr>
          <p:cNvPr id="16" name="">
            <a:extLst xmlns:a="http://schemas.openxmlformats.org/drawingml/2006/main">
              <a:ext uri="{FF2B5EF4-FFF2-40B4-BE49-F238E27FC236}">
                <a16:creationId xmlns:a16="http://schemas.microsoft.com/office/drawing/2014/main" id="{CB246376-6962-493B-AF42-7C1C56CCED44}"/>
              </a:ext>
            </a:extLst>
          </p:cNvPr>
          <p:cNvSpPr>
            <a:spLocks xmlns:a="http://schemas.openxmlformats.org/drawingml/2006/main" noGrp="1"/>
          </p:cNvSpPr>
          <p:nvPr/>
        </p:nvSpPr>
        <p:spPr>
          <a:xfrm xmlns:a="http://schemas.openxmlformats.org/drawingml/2006/main">
            <a:off x="6477000" y="3143250"/>
            <a:ext cx="1714500" cy="1000125"/>
          </a:xfrm>
          <a:prstGeom xmlns:a="http://schemas.openxmlformats.org/drawingml/2006/main" prst="roundRect">
            <a:avLst>
              <a:gd name="adj" fmla="val 7619"/>
            </a:avLst>
          </a:prstGeom>
          <a:solidFill xmlns:a="http://schemas.openxmlformats.org/drawingml/2006/main">
            <a:srgbClr val="47BF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3D0EC88-8AD2-4018-ACD7-CD52B5E336C4}"/>
              </a:ext>
            </a:extLst>
          </p:cNvPr>
          <p:cNvSpPr>
            <a:spLocks xmlns:a="http://schemas.openxmlformats.org/drawingml/2006/main" noGrp="1"/>
          </p:cNvSpPr>
          <p:nvPr/>
        </p:nvSpPr>
        <p:spPr>
          <a:xfrm xmlns:a="http://schemas.openxmlformats.org/drawingml/2006/main">
            <a:off x="6648450" y="3305175"/>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EAF4F3"/>
                </a:solidFill>
                <a:latin typeface="Aptos"/>
                <a:ea typeface="Aptos"/>
                <a:cs typeface="Aptos"/>
              </a:defRPr>
            </a:pPr>
            <a:r>
              <a:rPr sz="1575" b="1">
                <a:solidFill>
                  <a:srgbClr val="EAF4F3"/>
                </a:solidFill>
                <a:latin typeface="Aptos"/>
                <a:ea typeface="Aptos"/>
                <a:cs typeface="Aptos"/>
              </a:rPr>
              <a:t>Pod B</a:t>
            </a:r>
          </a:p>
        </p:txBody>
      </p:sp>
      <p:sp>
        <p:nvSpPr>
          <p:cNvPr id="18" name="">
            <a:extLst xmlns:a="http://schemas.openxmlformats.org/drawingml/2006/main">
              <a:ext uri="{FF2B5EF4-FFF2-40B4-BE49-F238E27FC236}">
                <a16:creationId xmlns:a16="http://schemas.microsoft.com/office/drawing/2014/main" id="{4BB02A08-5227-4281-909E-696C51252322}"/>
              </a:ext>
            </a:extLst>
          </p:cNvPr>
          <p:cNvSpPr>
            <a:spLocks xmlns:a="http://schemas.openxmlformats.org/drawingml/2006/main" noGrp="1"/>
          </p:cNvSpPr>
          <p:nvPr/>
        </p:nvSpPr>
        <p:spPr>
          <a:xfrm xmlns:a="http://schemas.openxmlformats.org/drawingml/2006/main">
            <a:off x="6610350" y="3657600"/>
            <a:ext cx="144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9CB4BF"/>
                </a:solidFill>
                <a:latin typeface="Aptos"/>
                <a:ea typeface="Aptos"/>
                <a:cs typeface="Aptos"/>
              </a:defRPr>
            </a:pPr>
            <a:r>
              <a:rPr sz="1050" b="0">
                <a:solidFill>
                  <a:srgbClr val="9CB4BF"/>
                </a:solidFill>
                <a:latin typeface="Aptos"/>
                <a:ea typeface="Aptos"/>
                <a:cs typeface="Aptos"/>
              </a:rPr>
              <a:t>ready</a:t>
            </a:r>
          </a:p>
        </p:txBody>
      </p:sp>
      <p:sp>
        <p:nvSpPr>
          <p:cNvPr id="19" name="">
            <a:extLst xmlns:a="http://schemas.openxmlformats.org/drawingml/2006/main">
              <a:ext uri="{FF2B5EF4-FFF2-40B4-BE49-F238E27FC236}">
                <a16:creationId xmlns:a16="http://schemas.microsoft.com/office/drawing/2014/main" id="{D66BB2AB-F394-429A-A0C2-6A60A9B69DFA}"/>
              </a:ext>
            </a:extLst>
          </p:cNvPr>
          <p:cNvSpPr>
            <a:spLocks xmlns:a="http://schemas.openxmlformats.org/drawingml/2006/main" noGrp="1"/>
          </p:cNvSpPr>
          <p:nvPr/>
        </p:nvSpPr>
        <p:spPr>
          <a:xfrm xmlns:a="http://schemas.openxmlformats.org/drawingml/2006/main">
            <a:off x="8191500" y="2171700"/>
            <a:ext cx="952500"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DAFC368-C8DB-401C-AE59-C609B374665F}"/>
              </a:ext>
            </a:extLst>
          </p:cNvPr>
          <p:cNvSpPr>
            <a:spLocks xmlns:a="http://schemas.openxmlformats.org/drawingml/2006/main" noGrp="1"/>
          </p:cNvSpPr>
          <p:nvPr/>
        </p:nvSpPr>
        <p:spPr>
          <a:xfrm xmlns:a="http://schemas.openxmlformats.org/drawingml/2006/main">
            <a:off x="8191500" y="3638550"/>
            <a:ext cx="952500" cy="38100"/>
          </a:xfrm>
          <a:prstGeom xmlns:a="http://schemas.openxmlformats.org/drawingml/2006/main" prst="rect">
            <a:avLst/>
          </a:prstGeom>
          <a:solidFill xmlns:a="http://schemas.openxmlformats.org/drawingml/2006/main">
            <a:srgbClr val="9CB4B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9A44A2-B74A-49EC-A3D6-7B1164C56FFC}"/>
              </a:ext>
            </a:extLst>
          </p:cNvPr>
          <p:cNvSpPr>
            <a:spLocks xmlns:a="http://schemas.openxmlformats.org/drawingml/2006/main" noGrp="1"/>
          </p:cNvSpPr>
          <p:nvPr/>
        </p:nvSpPr>
        <p:spPr>
          <a:xfrm xmlns:a="http://schemas.openxmlformats.org/drawingml/2006/main">
            <a:off x="9382125" y="23812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ctr">
              <a:defRPr sz="2100" b="1">
                <a:solidFill>
                  <a:srgbClr val="F6C85F"/>
                </a:solidFill>
                <a:latin typeface="Aptos"/>
                <a:ea typeface="Aptos"/>
                <a:cs typeface="Aptos"/>
              </a:defRPr>
            </a:pPr>
            <a:r>
              <a:rPr sz="2100" b="1">
                <a:solidFill>
                  <a:srgbClr val="F6C85F"/>
                </a:solidFill>
                <a:latin typeface="Aptos"/>
                <a:ea typeface="Aptos"/>
                <a:cs typeface="Aptos"/>
              </a:rPr>
              <a:t>HPA</a:t>
            </a:r>
          </a:p>
        </p:txBody>
      </p:sp>
      <p:sp>
        <p:nvSpPr>
          <p:cNvPr id="22" name="">
            <a:extLst xmlns:a="http://schemas.openxmlformats.org/drawingml/2006/main">
              <a:ext uri="{FF2B5EF4-FFF2-40B4-BE49-F238E27FC236}">
                <a16:creationId xmlns:a16="http://schemas.microsoft.com/office/drawing/2014/main" id="{D7C0B5FF-DF9C-4FDF-8EB2-C3889E35F8E3}"/>
              </a:ext>
            </a:extLst>
          </p:cNvPr>
          <p:cNvSpPr>
            <a:spLocks xmlns:a="http://schemas.openxmlformats.org/drawingml/2006/main" noGrp="1"/>
          </p:cNvSpPr>
          <p:nvPr/>
        </p:nvSpPr>
        <p:spPr>
          <a:xfrm xmlns:a="http://schemas.openxmlformats.org/drawingml/2006/main">
            <a:off x="9191625" y="2952750"/>
            <a:ext cx="180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0">
                <a:solidFill>
                  <a:srgbClr val="9CB4BF"/>
                </a:solidFill>
                <a:latin typeface="Aptos"/>
                <a:ea typeface="Aptos"/>
                <a:cs typeface="Aptos"/>
              </a:defRPr>
            </a:pPr>
            <a:r>
              <a:rPr sz="1575" b="0">
                <a:solidFill>
                  <a:srgbClr val="9CB4BF"/>
                </a:solidFill>
                <a:latin typeface="Aptos"/>
                <a:ea typeface="Aptos"/>
                <a:cs typeface="Aptos"/>
              </a:rPr>
              <a:t>2 à 5 pods</a:t>
            </a:r>
          </a:p>
          <a:p xmlns:a="http://schemas.openxmlformats.org/drawingml/2006/main">
            <a:pPr algn="ctr">
              <a:defRPr sz="1575" b="0">
                <a:solidFill>
                  <a:srgbClr val="9CB4BF"/>
                </a:solidFill>
                <a:latin typeface="Aptos"/>
                <a:ea typeface="Aptos"/>
                <a:cs typeface="Aptos"/>
              </a:defRPr>
            </a:pPr>
            <a:r>
              <a:rPr sz="1575" b="0">
                <a:solidFill>
                  <a:srgbClr val="9CB4BF"/>
                </a:solidFill>
                <a:latin typeface="Aptos"/>
                <a:ea typeface="Aptos"/>
                <a:cs typeface="Aptos"/>
              </a:rPr>
              <a:t>cible CPU 70 %</a:t>
            </a:r>
          </a:p>
        </p:txBody>
      </p:sp>
      <p:sp>
        <p:nvSpPr>
          <p:cNvPr id="23" name="">
            <a:extLst xmlns:a="http://schemas.openxmlformats.org/drawingml/2006/main">
              <a:ext uri="{FF2B5EF4-FFF2-40B4-BE49-F238E27FC236}">
                <a16:creationId xmlns:a16="http://schemas.microsoft.com/office/drawing/2014/main" id="{B250B677-38F5-4450-833E-452B2DCBEC6E}"/>
              </a:ext>
            </a:extLst>
          </p:cNvPr>
          <p:cNvSpPr>
            <a:spLocks xmlns:a="http://schemas.openxmlformats.org/drawingml/2006/main" noGrp="1"/>
          </p:cNvSpPr>
          <p:nvPr/>
        </p:nvSpPr>
        <p:spPr>
          <a:xfrm xmlns:a="http://schemas.openxmlformats.org/drawingml/2006/main">
            <a:off x="809625" y="46196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FF7A6E"/>
                </a:solidFill>
                <a:latin typeface="Aptos"/>
                <a:ea typeface="Aptos"/>
                <a:cs typeface="Aptos"/>
              </a:defRPr>
            </a:pPr>
            <a:r>
              <a:rPr sz="1650" b="1">
                <a:solidFill>
                  <a:srgbClr val="FF7A6E"/>
                </a:solidFill>
                <a:latin typeface="Aptos"/>
                <a:ea typeface="Aptos"/>
                <a:cs typeface="Aptos"/>
              </a:rPr>
              <a:t>Rolling update</a:t>
            </a:r>
          </a:p>
        </p:txBody>
      </p:sp>
      <p:sp>
        <p:nvSpPr>
          <p:cNvPr id="24" name="">
            <a:extLst xmlns:a="http://schemas.openxmlformats.org/drawingml/2006/main">
              <a:ext uri="{FF2B5EF4-FFF2-40B4-BE49-F238E27FC236}">
                <a16:creationId xmlns:a16="http://schemas.microsoft.com/office/drawing/2014/main" id="{40A735C0-F157-463A-99AC-8AB06799A8C1}"/>
              </a:ext>
            </a:extLst>
          </p:cNvPr>
          <p:cNvSpPr>
            <a:spLocks xmlns:a="http://schemas.openxmlformats.org/drawingml/2006/main" noGrp="1"/>
          </p:cNvSpPr>
          <p:nvPr/>
        </p:nvSpPr>
        <p:spPr>
          <a:xfrm xmlns:a="http://schemas.openxmlformats.org/drawingml/2006/main">
            <a:off x="809625" y="50482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EAF4F3"/>
                </a:solidFill>
                <a:latin typeface="Aptos"/>
                <a:ea typeface="Aptos"/>
                <a:cs typeface="Aptos"/>
              </a:defRPr>
            </a:pPr>
            <a:r>
              <a:rPr sz="1500" b="0">
                <a:solidFill>
                  <a:srgbClr val="EAF4F3"/>
                </a:solidFill>
                <a:latin typeface="Aptos"/>
                <a:ea typeface="Aptos"/>
                <a:cs typeface="Aptos"/>
              </a:rPr>
              <a:t>maxUnavailable: 0</a:t>
            </a:r>
          </a:p>
        </p:txBody>
      </p:sp>
      <p:sp>
        <p:nvSpPr>
          <p:cNvPr id="25" name="">
            <a:extLst xmlns:a="http://schemas.openxmlformats.org/drawingml/2006/main">
              <a:ext uri="{FF2B5EF4-FFF2-40B4-BE49-F238E27FC236}">
                <a16:creationId xmlns:a16="http://schemas.microsoft.com/office/drawing/2014/main" id="{4F3004F0-A402-40F4-BD70-FD236692DDCA}"/>
              </a:ext>
            </a:extLst>
          </p:cNvPr>
          <p:cNvSpPr>
            <a:spLocks xmlns:a="http://schemas.openxmlformats.org/drawingml/2006/main" noGrp="1"/>
          </p:cNvSpPr>
          <p:nvPr/>
        </p:nvSpPr>
        <p:spPr>
          <a:xfrm xmlns:a="http://schemas.openxmlformats.org/drawingml/2006/main">
            <a:off x="4000500" y="46196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34D399"/>
                </a:solidFill>
                <a:latin typeface="Aptos"/>
                <a:ea typeface="Aptos"/>
                <a:cs typeface="Aptos"/>
              </a:defRPr>
            </a:pPr>
            <a:r>
              <a:rPr sz="1650" b="1">
                <a:solidFill>
                  <a:srgbClr val="34D399"/>
                </a:solidFill>
                <a:latin typeface="Aptos"/>
                <a:ea typeface="Aptos"/>
                <a:cs typeface="Aptos"/>
              </a:rPr>
              <a:t>Health checks</a:t>
            </a:r>
          </a:p>
        </p:txBody>
      </p:sp>
      <p:sp>
        <p:nvSpPr>
          <p:cNvPr id="26" name="">
            <a:extLst xmlns:a="http://schemas.openxmlformats.org/drawingml/2006/main">
              <a:ext uri="{FF2B5EF4-FFF2-40B4-BE49-F238E27FC236}">
                <a16:creationId xmlns:a16="http://schemas.microsoft.com/office/drawing/2014/main" id="{3E370002-B843-4F81-ACC7-D0DE6E0A82EB}"/>
              </a:ext>
            </a:extLst>
          </p:cNvPr>
          <p:cNvSpPr>
            <a:spLocks xmlns:a="http://schemas.openxmlformats.org/drawingml/2006/main" noGrp="1"/>
          </p:cNvSpPr>
          <p:nvPr/>
        </p:nvSpPr>
        <p:spPr>
          <a:xfrm xmlns:a="http://schemas.openxmlformats.org/drawingml/2006/main">
            <a:off x="4000500" y="50482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EAF4F3"/>
                </a:solidFill>
                <a:latin typeface="Aptos"/>
                <a:ea typeface="Aptos"/>
                <a:cs typeface="Aptos"/>
              </a:defRPr>
            </a:pPr>
            <a:r>
              <a:rPr sz="1500" b="0">
                <a:solidFill>
                  <a:srgbClr val="EAF4F3"/>
                </a:solidFill>
                <a:latin typeface="Aptos"/>
                <a:ea typeface="Aptos"/>
                <a:cs typeface="Aptos"/>
              </a:rPr>
              <a:t>readiness + liveness</a:t>
            </a:r>
          </a:p>
        </p:txBody>
      </p:sp>
      <p:sp>
        <p:nvSpPr>
          <p:cNvPr id="27" name="">
            <a:extLst xmlns:a="http://schemas.openxmlformats.org/drawingml/2006/main">
              <a:ext uri="{FF2B5EF4-FFF2-40B4-BE49-F238E27FC236}">
                <a16:creationId xmlns:a16="http://schemas.microsoft.com/office/drawing/2014/main" id="{3E44478B-1F83-4E12-B652-AFD0E46BA07C}"/>
              </a:ext>
            </a:extLst>
          </p:cNvPr>
          <p:cNvSpPr>
            <a:spLocks xmlns:a="http://schemas.openxmlformats.org/drawingml/2006/main" noGrp="1"/>
          </p:cNvSpPr>
          <p:nvPr/>
        </p:nvSpPr>
        <p:spPr>
          <a:xfrm xmlns:a="http://schemas.openxmlformats.org/drawingml/2006/main">
            <a:off x="7381875" y="46196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47BFF2"/>
                </a:solidFill>
                <a:latin typeface="Aptos"/>
                <a:ea typeface="Aptos"/>
                <a:cs typeface="Aptos"/>
              </a:defRPr>
            </a:pPr>
            <a:r>
              <a:rPr sz="1650" b="1">
                <a:solidFill>
                  <a:srgbClr val="47BFF2"/>
                </a:solidFill>
                <a:latin typeface="Aptos"/>
                <a:ea typeface="Aptos"/>
                <a:cs typeface="Aptos"/>
              </a:rPr>
              <a:t>Ressources</a:t>
            </a:r>
          </a:p>
        </p:txBody>
      </p:sp>
      <p:sp>
        <p:nvSpPr>
          <p:cNvPr id="28" name="">
            <a:extLst xmlns:a="http://schemas.openxmlformats.org/drawingml/2006/main">
              <a:ext uri="{FF2B5EF4-FFF2-40B4-BE49-F238E27FC236}">
                <a16:creationId xmlns:a16="http://schemas.microsoft.com/office/drawing/2014/main" id="{633DFF9B-BB79-4DD9-A8CC-00EE4AFAB0B4}"/>
              </a:ext>
            </a:extLst>
          </p:cNvPr>
          <p:cNvSpPr>
            <a:spLocks xmlns:a="http://schemas.openxmlformats.org/drawingml/2006/main" noGrp="1"/>
          </p:cNvSpPr>
          <p:nvPr/>
        </p:nvSpPr>
        <p:spPr>
          <a:xfrm xmlns:a="http://schemas.openxmlformats.org/drawingml/2006/main">
            <a:off x="7381875" y="50482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EAF4F3"/>
                </a:solidFill>
                <a:latin typeface="Aptos"/>
                <a:ea typeface="Aptos"/>
                <a:cs typeface="Aptos"/>
              </a:defRPr>
            </a:pPr>
            <a:r>
              <a:rPr sz="1500" b="0">
                <a:solidFill>
                  <a:srgbClr val="EAF4F3"/>
                </a:solidFill>
                <a:latin typeface="Aptos"/>
                <a:ea typeface="Aptos"/>
                <a:cs typeface="Aptos"/>
              </a:rPr>
              <a:t>requests + limits</a:t>
            </a:r>
          </a:p>
        </p:txBody>
      </p:sp>
      <p:sp>
        <p:nvSpPr>
          <p:cNvPr id="29" name="">
            <a:extLst xmlns:a="http://schemas.openxmlformats.org/drawingml/2006/main">
              <a:ext uri="{FF2B5EF4-FFF2-40B4-BE49-F238E27FC236}">
                <a16:creationId xmlns:a16="http://schemas.microsoft.com/office/drawing/2014/main" id="{72DE8FAF-A2DB-4A16-9AC4-8AE608DD22D1}"/>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9CB4BF"/>
                </a:solidFill>
                <a:latin typeface="Aptos"/>
                <a:ea typeface="Aptos"/>
                <a:cs typeface="Aptos"/>
              </a:defRPr>
            </a:pPr>
            <a:r>
              <a:rPr sz="975" b="0">
                <a:solidFill>
                  <a:srgbClr val="9CB4BF"/>
                </a:solidFill>
                <a:latin typeface="Aptos"/>
                <a:ea typeface="Aptos"/>
                <a:cs typeface="Aptos"/>
              </a:rPr>
              <a:t>ClassLab · Projet fil rouge</a:t>
            </a:r>
          </a:p>
        </p:txBody>
      </p:sp>
    </p:spTree>
    <p:extLst>
      <p:ext uri="{BB962C8B-B14F-4D97-AF65-F5344CB8AC3E}">
        <p14:creationId xmlns:p14="http://schemas.microsoft.com/office/powerpoint/2010/main" val="853221684"/>
      </p:ext>
    </p:extLst>
  </p:cSld>
</p:sld>
</file>

<file path=ppt/slides/slide7.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19151E-ADD1-4AF7-8BB0-E39038DC9B4A}"/>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EAF4F3"/>
                </a:solidFill>
                <a:latin typeface="Aptos"/>
                <a:ea typeface="Aptos"/>
                <a:cs typeface="Aptos"/>
              </a:defRPr>
            </a:pPr>
            <a:r>
              <a:rPr sz="2550" b="1">
                <a:solidFill>
                  <a:srgbClr val="EAF4F3"/>
                </a:solidFill>
                <a:latin typeface="Aptos"/>
                <a:ea typeface="Aptos"/>
                <a:cs typeface="Aptos"/>
              </a:rPr>
              <a:t>Supervision du service</a:t>
            </a:r>
          </a:p>
        </p:txBody>
      </p:sp>
      <p:sp>
        <p:nvSpPr>
          <p:cNvPr id="2" name="">
            <a:extLst xmlns:a="http://schemas.openxmlformats.org/drawingml/2006/main">
              <a:ext uri="{FF2B5EF4-FFF2-40B4-BE49-F238E27FC236}">
                <a16:creationId xmlns:a16="http://schemas.microsoft.com/office/drawing/2014/main" id="{A4CA7141-CC99-4F06-9341-CA2966844340}"/>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5EDDAE8C-3753-4A39-9EBF-CB211F9E44C9}"/>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232A31-2419-44CD-A840-589C65459987}"/>
              </a:ext>
            </a:extLst>
          </p:cNvPr>
          <p:cNvSpPr>
            <a:spLocks xmlns:a="http://schemas.openxmlformats.org/drawingml/2006/main" noGrp="1"/>
          </p:cNvSpPr>
          <p:nvPr/>
        </p:nvSpPr>
        <p:spPr>
          <a:xfrm xmlns:a="http://schemas.openxmlformats.org/drawingml/2006/main">
            <a:off x="762000" y="16668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7BFF2"/>
                </a:solidFill>
                <a:latin typeface="Aptos"/>
                <a:ea typeface="Aptos"/>
                <a:cs typeface="Aptos"/>
              </a:defRPr>
            </a:pPr>
            <a:r>
              <a:rPr sz="1350" b="1">
                <a:solidFill>
                  <a:srgbClr val="47BFF2"/>
                </a:solidFill>
                <a:latin typeface="Aptos"/>
                <a:ea typeface="Aptos"/>
                <a:cs typeface="Aptos"/>
              </a:rPr>
              <a:t>DÉBIT</a:t>
            </a:r>
          </a:p>
        </p:txBody>
      </p:sp>
      <p:sp>
        <p:nvSpPr>
          <p:cNvPr id="5" name="">
            <a:extLst xmlns:a="http://schemas.openxmlformats.org/drawingml/2006/main">
              <a:ext uri="{FF2B5EF4-FFF2-40B4-BE49-F238E27FC236}">
                <a16:creationId xmlns:a16="http://schemas.microsoft.com/office/drawing/2014/main" id="{29265120-6D21-4BA0-B9AC-B9FDFB888858}"/>
              </a:ext>
            </a:extLst>
          </p:cNvPr>
          <p:cNvSpPr>
            <a:spLocks xmlns:a="http://schemas.openxmlformats.org/drawingml/2006/main" noGrp="1"/>
          </p:cNvSpPr>
          <p:nvPr/>
        </p:nvSpPr>
        <p:spPr>
          <a:xfrm xmlns:a="http://schemas.openxmlformats.org/drawingml/2006/main">
            <a:off x="762000" y="2143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1">
                <a:solidFill>
                  <a:srgbClr val="EAF4F3"/>
                </a:solidFill>
                <a:latin typeface="Aptos"/>
                <a:ea typeface="Aptos"/>
                <a:cs typeface="Aptos"/>
              </a:defRPr>
            </a:pPr>
            <a:r>
              <a:rPr sz="2925" b="1">
                <a:solidFill>
                  <a:srgbClr val="EAF4F3"/>
                </a:solidFill>
                <a:latin typeface="Aptos"/>
                <a:ea typeface="Aptos"/>
                <a:cs typeface="Aptos"/>
              </a:rPr>
              <a:t>req/s</a:t>
            </a:r>
          </a:p>
        </p:txBody>
      </p:sp>
      <p:sp>
        <p:nvSpPr>
          <p:cNvPr id="6" name="">
            <a:extLst xmlns:a="http://schemas.openxmlformats.org/drawingml/2006/main">
              <a:ext uri="{FF2B5EF4-FFF2-40B4-BE49-F238E27FC236}">
                <a16:creationId xmlns:a16="http://schemas.microsoft.com/office/drawing/2014/main" id="{213719DF-5637-4FC7-ABDD-E62558D271FE}"/>
              </a:ext>
            </a:extLst>
          </p:cNvPr>
          <p:cNvSpPr>
            <a:spLocks xmlns:a="http://schemas.openxmlformats.org/drawingml/2006/main" noGrp="1"/>
          </p:cNvSpPr>
          <p:nvPr/>
        </p:nvSpPr>
        <p:spPr>
          <a:xfrm xmlns:a="http://schemas.openxmlformats.org/drawingml/2006/main">
            <a:off x="4476750" y="16668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F7A6E"/>
                </a:solidFill>
                <a:latin typeface="Aptos"/>
                <a:ea typeface="Aptos"/>
                <a:cs typeface="Aptos"/>
              </a:defRPr>
            </a:pPr>
            <a:r>
              <a:rPr sz="1350" b="1">
                <a:solidFill>
                  <a:srgbClr val="FF7A6E"/>
                </a:solidFill>
                <a:latin typeface="Aptos"/>
                <a:ea typeface="Aptos"/>
                <a:cs typeface="Aptos"/>
              </a:rPr>
              <a:t>ERREURS</a:t>
            </a:r>
          </a:p>
        </p:txBody>
      </p:sp>
      <p:sp>
        <p:nvSpPr>
          <p:cNvPr id="7" name="">
            <a:extLst xmlns:a="http://schemas.openxmlformats.org/drawingml/2006/main">
              <a:ext uri="{FF2B5EF4-FFF2-40B4-BE49-F238E27FC236}">
                <a16:creationId xmlns:a16="http://schemas.microsoft.com/office/drawing/2014/main" id="{79D8DDEE-8F45-456E-AB42-D1EE2C2D9A69}"/>
              </a:ext>
            </a:extLst>
          </p:cNvPr>
          <p:cNvSpPr>
            <a:spLocks xmlns:a="http://schemas.openxmlformats.org/drawingml/2006/main" noGrp="1"/>
          </p:cNvSpPr>
          <p:nvPr/>
        </p:nvSpPr>
        <p:spPr>
          <a:xfrm xmlns:a="http://schemas.openxmlformats.org/drawingml/2006/main">
            <a:off x="4476750" y="2143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1">
                <a:solidFill>
                  <a:srgbClr val="EAF4F3"/>
                </a:solidFill>
                <a:latin typeface="Aptos"/>
                <a:ea typeface="Aptos"/>
                <a:cs typeface="Aptos"/>
              </a:defRPr>
            </a:pPr>
            <a:r>
              <a:rPr sz="2925" b="1">
                <a:solidFill>
                  <a:srgbClr val="EAF4F3"/>
                </a:solidFill>
                <a:latin typeface="Aptos"/>
                <a:ea typeface="Aptos"/>
                <a:cs typeface="Aptos"/>
              </a:rPr>
              <a:t>% de 5xx</a:t>
            </a:r>
          </a:p>
        </p:txBody>
      </p:sp>
      <p:sp>
        <p:nvSpPr>
          <p:cNvPr id="8" name="">
            <a:extLst xmlns:a="http://schemas.openxmlformats.org/drawingml/2006/main">
              <a:ext uri="{FF2B5EF4-FFF2-40B4-BE49-F238E27FC236}">
                <a16:creationId xmlns:a16="http://schemas.microsoft.com/office/drawing/2014/main" id="{8B276132-EBAD-4A36-9F91-FE4C3F504C9B}"/>
              </a:ext>
            </a:extLst>
          </p:cNvPr>
          <p:cNvSpPr>
            <a:spLocks xmlns:a="http://schemas.openxmlformats.org/drawingml/2006/main" noGrp="1"/>
          </p:cNvSpPr>
          <p:nvPr/>
        </p:nvSpPr>
        <p:spPr>
          <a:xfrm xmlns:a="http://schemas.openxmlformats.org/drawingml/2006/main">
            <a:off x="8191500" y="16668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4D399"/>
                </a:solidFill>
                <a:latin typeface="Aptos"/>
                <a:ea typeface="Aptos"/>
                <a:cs typeface="Aptos"/>
              </a:defRPr>
            </a:pPr>
            <a:r>
              <a:rPr sz="1350" b="1">
                <a:solidFill>
                  <a:srgbClr val="34D399"/>
                </a:solidFill>
                <a:latin typeface="Aptos"/>
                <a:ea typeface="Aptos"/>
                <a:cs typeface="Aptos"/>
              </a:rPr>
              <a:t>LATENCE</a:t>
            </a:r>
          </a:p>
        </p:txBody>
      </p:sp>
      <p:sp>
        <p:nvSpPr>
          <p:cNvPr id="9" name="">
            <a:extLst xmlns:a="http://schemas.openxmlformats.org/drawingml/2006/main">
              <a:ext uri="{FF2B5EF4-FFF2-40B4-BE49-F238E27FC236}">
                <a16:creationId xmlns:a16="http://schemas.microsoft.com/office/drawing/2014/main" id="{6030E128-6C89-4027-8F34-2EDD54EB0225}"/>
              </a:ext>
            </a:extLst>
          </p:cNvPr>
          <p:cNvSpPr>
            <a:spLocks xmlns:a="http://schemas.openxmlformats.org/drawingml/2006/main" noGrp="1"/>
          </p:cNvSpPr>
          <p:nvPr/>
        </p:nvSpPr>
        <p:spPr>
          <a:xfrm xmlns:a="http://schemas.openxmlformats.org/drawingml/2006/main">
            <a:off x="8191500" y="2143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1">
                <a:solidFill>
                  <a:srgbClr val="EAF4F3"/>
                </a:solidFill>
                <a:latin typeface="Aptos"/>
                <a:ea typeface="Aptos"/>
                <a:cs typeface="Aptos"/>
              </a:defRPr>
            </a:pPr>
            <a:r>
              <a:rPr sz="2925" b="1">
                <a:solidFill>
                  <a:srgbClr val="EAF4F3"/>
                </a:solidFill>
                <a:latin typeface="Aptos"/>
                <a:ea typeface="Aptos"/>
                <a:cs typeface="Aptos"/>
              </a:rPr>
              <a:t>p95</a:t>
            </a:r>
          </a:p>
        </p:txBody>
      </p:sp>
      <p:sp>
        <p:nvSpPr>
          <p:cNvPr id="10" name="">
            <a:extLst xmlns:a="http://schemas.openxmlformats.org/drawingml/2006/main">
              <a:ext uri="{FF2B5EF4-FFF2-40B4-BE49-F238E27FC236}">
                <a16:creationId xmlns:a16="http://schemas.microsoft.com/office/drawing/2014/main" id="{61026554-C641-4BF6-A007-533CF717E676}"/>
              </a:ext>
            </a:extLst>
          </p:cNvPr>
          <p:cNvSpPr>
            <a:spLocks xmlns:a="http://schemas.openxmlformats.org/drawingml/2006/main" noGrp="1"/>
          </p:cNvSpPr>
          <p:nvPr/>
        </p:nvSpPr>
        <p:spPr>
          <a:xfrm xmlns:a="http://schemas.openxmlformats.org/drawingml/2006/main">
            <a:off x="762000" y="3143250"/>
            <a:ext cx="10287000" cy="19050"/>
          </a:xfrm>
          <a:prstGeom xmlns:a="http://schemas.openxmlformats.org/drawingml/2006/main" prst="rect">
            <a:avLst/>
          </a:prstGeom>
          <a:solidFill xmlns:a="http://schemas.openxmlformats.org/drawingml/2006/main">
            <a:srgbClr val="0D263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B7E46C-87EB-4711-8ADE-1C8B176E3734}"/>
              </a:ext>
            </a:extLst>
          </p:cNvPr>
          <p:cNvSpPr>
            <a:spLocks xmlns:a="http://schemas.openxmlformats.org/drawingml/2006/main" noGrp="1"/>
          </p:cNvSpPr>
          <p:nvPr/>
        </p:nvSpPr>
        <p:spPr>
          <a:xfrm xmlns:a="http://schemas.openxmlformats.org/drawingml/2006/main">
            <a:off x="762000" y="36671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EAF4F3"/>
                </a:solidFill>
                <a:latin typeface="Aptos"/>
                <a:ea typeface="Aptos"/>
                <a:cs typeface="Aptos"/>
              </a:defRPr>
            </a:pPr>
            <a:r>
              <a:rPr sz="2100" b="1">
                <a:solidFill>
                  <a:srgbClr val="EAF4F3"/>
                </a:solidFill>
                <a:latin typeface="Aptos"/>
                <a:ea typeface="Aptos"/>
                <a:cs typeface="Aptos"/>
              </a:rPr>
              <a:t>Prometheus collecte /metrics</a:t>
            </a:r>
          </a:p>
        </p:txBody>
      </p:sp>
      <p:sp>
        <p:nvSpPr>
          <p:cNvPr id="12" name="">
            <a:extLst xmlns:a="http://schemas.openxmlformats.org/drawingml/2006/main">
              <a:ext uri="{FF2B5EF4-FFF2-40B4-BE49-F238E27FC236}">
                <a16:creationId xmlns:a16="http://schemas.microsoft.com/office/drawing/2014/main" id="{6C745AB5-8D4F-479D-AA1A-BCBF98792942}"/>
              </a:ext>
            </a:extLst>
          </p:cNvPr>
          <p:cNvSpPr>
            <a:spLocks xmlns:a="http://schemas.openxmlformats.org/drawingml/2006/main" noGrp="1"/>
          </p:cNvSpPr>
          <p:nvPr/>
        </p:nvSpPr>
        <p:spPr>
          <a:xfrm xmlns:a="http://schemas.openxmlformats.org/drawingml/2006/main">
            <a:off x="762000" y="43338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9CB4BF"/>
                </a:solidFill>
                <a:latin typeface="Aptos"/>
                <a:ea typeface="Aptos"/>
                <a:cs typeface="Aptos"/>
              </a:defRPr>
            </a:pPr>
            <a:r>
              <a:rPr sz="1800" b="0">
                <a:solidFill>
                  <a:srgbClr val="9CB4BF"/>
                </a:solidFill>
                <a:latin typeface="Aptos"/>
                <a:ea typeface="Aptos"/>
                <a:cs typeface="Aptos"/>
              </a:rPr>
              <a:t>Grafana rend les tendances visibles</a:t>
            </a:r>
          </a:p>
        </p:txBody>
      </p:sp>
      <p:sp>
        <p:nvSpPr>
          <p:cNvPr id="13" name="">
            <a:extLst xmlns:a="http://schemas.openxmlformats.org/drawingml/2006/main">
              <a:ext uri="{FF2B5EF4-FFF2-40B4-BE49-F238E27FC236}">
                <a16:creationId xmlns:a16="http://schemas.microsoft.com/office/drawing/2014/main" id="{A77C1A2E-4AEC-492F-A52D-4E867158DA57}"/>
              </a:ext>
            </a:extLst>
          </p:cNvPr>
          <p:cNvSpPr>
            <a:spLocks xmlns:a="http://schemas.openxmlformats.org/drawingml/2006/main" noGrp="1"/>
          </p:cNvSpPr>
          <p:nvPr/>
        </p:nvSpPr>
        <p:spPr>
          <a:xfrm xmlns:a="http://schemas.openxmlformats.org/drawingml/2006/main">
            <a:off x="7715250" y="3714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6C85F"/>
                </a:solidFill>
                <a:latin typeface="Aptos"/>
                <a:ea typeface="Aptos"/>
                <a:cs typeface="Aptos"/>
              </a:defRPr>
            </a:pPr>
            <a:r>
              <a:rPr sz="1350" b="1">
                <a:solidFill>
                  <a:srgbClr val="F6C85F"/>
                </a:solidFill>
                <a:latin typeface="Aptos"/>
                <a:ea typeface="Aptos"/>
                <a:cs typeface="Aptos"/>
              </a:rPr>
              <a:t>ALERTE</a:t>
            </a:r>
          </a:p>
        </p:txBody>
      </p:sp>
      <p:sp>
        <p:nvSpPr>
          <p:cNvPr id="14" name="">
            <a:extLst xmlns:a="http://schemas.openxmlformats.org/drawingml/2006/main">
              <a:ext uri="{FF2B5EF4-FFF2-40B4-BE49-F238E27FC236}">
                <a16:creationId xmlns:a16="http://schemas.microsoft.com/office/drawing/2014/main" id="{52AB8ED1-1E14-4DC4-9A5E-74327B22E200}"/>
              </a:ext>
            </a:extLst>
          </p:cNvPr>
          <p:cNvSpPr>
            <a:spLocks xmlns:a="http://schemas.openxmlformats.org/drawingml/2006/main" noGrp="1"/>
          </p:cNvSpPr>
          <p:nvPr/>
        </p:nvSpPr>
        <p:spPr>
          <a:xfrm xmlns:a="http://schemas.openxmlformats.org/drawingml/2006/main">
            <a:off x="7715250" y="42386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EAF4F3"/>
                </a:solidFill>
                <a:latin typeface="Aptos"/>
                <a:ea typeface="Aptos"/>
                <a:cs typeface="Aptos"/>
              </a:defRPr>
            </a:pPr>
            <a:r>
              <a:rPr sz="1725" b="0">
                <a:solidFill>
                  <a:srgbClr val="EAF4F3"/>
                </a:solidFill>
                <a:latin typeface="Aptos"/>
                <a:ea typeface="Aptos"/>
                <a:cs typeface="Aptos"/>
              </a:rPr>
              <a:t>API indisponible &gt; 2 min</a:t>
            </a:r>
          </a:p>
          <a:p xmlns:a="http://schemas.openxmlformats.org/drawingml/2006/main">
            <a:pPr algn="l">
              <a:defRPr sz="1725" b="0">
                <a:solidFill>
                  <a:srgbClr val="EAF4F3"/>
                </a:solidFill>
                <a:latin typeface="Aptos"/>
                <a:ea typeface="Aptos"/>
                <a:cs typeface="Aptos"/>
              </a:defRPr>
            </a:pPr>
            <a:r>
              <a:rPr sz="1725" b="0">
                <a:solidFill>
                  <a:srgbClr val="EAF4F3"/>
                </a:solidFill>
                <a:latin typeface="Aptos"/>
                <a:ea typeface="Aptos"/>
                <a:cs typeface="Aptos"/>
              </a:rPr>
              <a:t>5xx &gt; 5 % pendant 5 min</a:t>
            </a:r>
          </a:p>
        </p:txBody>
      </p:sp>
      <p:sp>
        <p:nvSpPr>
          <p:cNvPr id="15" name="">
            <a:extLst xmlns:a="http://schemas.openxmlformats.org/drawingml/2006/main">
              <a:ext uri="{FF2B5EF4-FFF2-40B4-BE49-F238E27FC236}">
                <a16:creationId xmlns:a16="http://schemas.microsoft.com/office/drawing/2014/main" id="{2F02BECF-D773-41FE-B439-D30ABF0DE9AB}"/>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9CB4BF"/>
                </a:solidFill>
                <a:latin typeface="Aptos"/>
                <a:ea typeface="Aptos"/>
                <a:cs typeface="Aptos"/>
              </a:defRPr>
            </a:pPr>
            <a:r>
              <a:rPr sz="975" b="0">
                <a:solidFill>
                  <a:srgbClr val="9CB4BF"/>
                </a:solidFill>
                <a:latin typeface="Aptos"/>
                <a:ea typeface="Aptos"/>
                <a:cs typeface="Aptos"/>
              </a:rPr>
              <a:t>ClassLab · Projet fil rouge</a:t>
            </a:r>
          </a:p>
        </p:txBody>
      </p:sp>
    </p:spTree>
    <p:extLst>
      <p:ext uri="{BB962C8B-B14F-4D97-AF65-F5344CB8AC3E}">
        <p14:creationId xmlns:p14="http://schemas.microsoft.com/office/powerpoint/2010/main" val="1123984023"/>
      </p:ext>
    </p:extLst>
  </p:cSld>
</p:sld>
</file>

<file path=ppt/slides/slide8.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0F00CB8-85F0-4FA7-9378-84EC6195C30D}"/>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03C"/>
                </a:solidFill>
                <a:latin typeface="Aptos"/>
                <a:ea typeface="Aptos"/>
                <a:cs typeface="Aptos"/>
              </a:defRPr>
            </a:pPr>
            <a:r>
              <a:rPr sz="2550" b="1">
                <a:solidFill>
                  <a:srgbClr val="17303C"/>
                </a:solidFill>
                <a:latin typeface="Aptos"/>
                <a:ea typeface="Aptos"/>
                <a:cs typeface="Aptos"/>
              </a:rPr>
              <a:t>Démonstration en 5 minutes</a:t>
            </a:r>
          </a:p>
        </p:txBody>
      </p:sp>
      <p:sp>
        <p:nvSpPr>
          <p:cNvPr id="2" name="">
            <a:extLst xmlns:a="http://schemas.openxmlformats.org/drawingml/2006/main">
              <a:ext uri="{FF2B5EF4-FFF2-40B4-BE49-F238E27FC236}">
                <a16:creationId xmlns:a16="http://schemas.microsoft.com/office/drawing/2014/main" id="{E0CEFED3-D918-44F8-9830-31F6C5CFE009}"/>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8E7BAFC3-CDEA-4B25-B2D0-C040ED51E6CF}"/>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C6300B-EDFA-49CD-9D4A-6A3DFC7CBF58}"/>
              </a:ext>
            </a:extLst>
          </p:cNvPr>
          <p:cNvSpPr>
            <a:spLocks xmlns:a="http://schemas.openxmlformats.org/drawingml/2006/main" noGrp="1"/>
          </p:cNvSpPr>
          <p:nvPr/>
        </p:nvSpPr>
        <p:spPr>
          <a:xfrm xmlns:a="http://schemas.openxmlformats.org/drawingml/2006/main">
            <a:off x="666750" y="2047875"/>
            <a:ext cx="685800" cy="685800"/>
          </a:xfrm>
          <a:prstGeom xmlns:a="http://schemas.openxmlformats.org/drawingml/2006/main" prst="roundRect">
            <a:avLst>
              <a:gd name="adj" fmla="val 11111"/>
            </a:avLst>
          </a:prstGeom>
          <a:solidFill xmlns:a="http://schemas.openxmlformats.org/drawingml/2006/main">
            <a:srgbClr val="34D39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FE0C5D-0909-469C-BDF1-A7AED8E3F7DD}"/>
              </a:ext>
            </a:extLst>
          </p:cNvPr>
          <p:cNvSpPr>
            <a:spLocks xmlns:a="http://schemas.openxmlformats.org/drawingml/2006/main" noGrp="1"/>
          </p:cNvSpPr>
          <p:nvPr/>
        </p:nvSpPr>
        <p:spPr>
          <a:xfrm xmlns:a="http://schemas.openxmlformats.org/drawingml/2006/main">
            <a:off x="666750" y="21621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lgn="ctr">
              <a:defRPr sz="2100" b="1">
                <a:solidFill>
                  <a:srgbClr val="071827"/>
                </a:solidFill>
                <a:latin typeface="Aptos"/>
                <a:ea typeface="Aptos"/>
                <a:cs typeface="Aptos"/>
              </a:defRPr>
            </a:pPr>
            <a:r>
              <a:rPr sz="2100" b="1">
                <a:solidFill>
                  <a:srgbClr val="071827"/>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15ACE407-1ABA-4C8B-99E4-197440084C8A}"/>
              </a:ext>
            </a:extLst>
          </p:cNvPr>
          <p:cNvSpPr>
            <a:spLocks xmlns:a="http://schemas.openxmlformats.org/drawingml/2006/main" noGrp="1"/>
          </p:cNvSpPr>
          <p:nvPr/>
        </p:nvSpPr>
        <p:spPr>
          <a:xfrm xmlns:a="http://schemas.openxmlformats.org/drawingml/2006/main">
            <a:off x="666750" y="3048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7303C"/>
                </a:solidFill>
                <a:latin typeface="Aptos"/>
                <a:ea typeface="Aptos"/>
                <a:cs typeface="Aptos"/>
              </a:defRPr>
            </a:pPr>
            <a:r>
              <a:rPr sz="1800" b="1">
                <a:solidFill>
                  <a:srgbClr val="17303C"/>
                </a:solidFill>
                <a:latin typeface="Aptos"/>
                <a:ea typeface="Aptos"/>
                <a:cs typeface="Aptos"/>
              </a:rPr>
              <a:t>Pipeline</a:t>
            </a:r>
          </a:p>
        </p:txBody>
      </p:sp>
      <p:sp>
        <p:nvSpPr>
          <p:cNvPr id="7" name="">
            <a:extLst xmlns:a="http://schemas.openxmlformats.org/drawingml/2006/main">
              <a:ext uri="{FF2B5EF4-FFF2-40B4-BE49-F238E27FC236}">
                <a16:creationId xmlns:a16="http://schemas.microsoft.com/office/drawing/2014/main" id="{20EF3DF6-BA51-482F-AA42-ABD3591D716C}"/>
              </a:ext>
            </a:extLst>
          </p:cNvPr>
          <p:cNvSpPr>
            <a:spLocks xmlns:a="http://schemas.openxmlformats.org/drawingml/2006/main" noGrp="1"/>
          </p:cNvSpPr>
          <p:nvPr/>
        </p:nvSpPr>
        <p:spPr>
          <a:xfrm xmlns:a="http://schemas.openxmlformats.org/drawingml/2006/main">
            <a:off x="666750" y="35242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36A74"/>
                </a:solidFill>
                <a:latin typeface="Aptos"/>
                <a:ea typeface="Aptos"/>
                <a:cs typeface="Aptos"/>
              </a:defRPr>
            </a:pPr>
            <a:r>
              <a:rPr sz="1425" b="0">
                <a:solidFill>
                  <a:srgbClr val="536A74"/>
                </a:solidFill>
                <a:latin typeface="Aptos"/>
                <a:ea typeface="Aptos"/>
                <a:cs typeface="Aptos"/>
              </a:rPr>
              <a:t>tests + scan</a:t>
            </a:r>
          </a:p>
        </p:txBody>
      </p:sp>
      <p:sp>
        <p:nvSpPr>
          <p:cNvPr id="8" name="">
            <a:extLst xmlns:a="http://schemas.openxmlformats.org/drawingml/2006/main">
              <a:ext uri="{FF2B5EF4-FFF2-40B4-BE49-F238E27FC236}">
                <a16:creationId xmlns:a16="http://schemas.microsoft.com/office/drawing/2014/main" id="{CEF90873-67D2-4E4E-9CBC-1C84760C8D79}"/>
              </a:ext>
            </a:extLst>
          </p:cNvPr>
          <p:cNvSpPr>
            <a:spLocks xmlns:a="http://schemas.openxmlformats.org/drawingml/2006/main" noGrp="1"/>
          </p:cNvSpPr>
          <p:nvPr/>
        </p:nvSpPr>
        <p:spPr>
          <a:xfrm xmlns:a="http://schemas.openxmlformats.org/drawingml/2006/main">
            <a:off x="1447800" y="2371725"/>
            <a:ext cx="1333500" cy="28575"/>
          </a:xfrm>
          <a:prstGeom xmlns:a="http://schemas.openxmlformats.org/drawingml/2006/main" prst="rect">
            <a:avLst/>
          </a:prstGeom>
          <a:solidFill xmlns:a="http://schemas.openxmlformats.org/drawingml/2006/main">
            <a:srgbClr val="B8CAC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AB84A6-D240-4C43-B44B-EEDD29409230}"/>
              </a:ext>
            </a:extLst>
          </p:cNvPr>
          <p:cNvSpPr>
            <a:spLocks xmlns:a="http://schemas.openxmlformats.org/drawingml/2006/main" noGrp="1"/>
          </p:cNvSpPr>
          <p:nvPr/>
        </p:nvSpPr>
        <p:spPr>
          <a:xfrm xmlns:a="http://schemas.openxmlformats.org/drawingml/2006/main">
            <a:off x="2952750" y="2047875"/>
            <a:ext cx="685800" cy="685800"/>
          </a:xfrm>
          <a:prstGeom xmlns:a="http://schemas.openxmlformats.org/drawingml/2006/main" prst="roundRect">
            <a:avLst>
              <a:gd name="adj" fmla="val 11111"/>
            </a:avLst>
          </a:prstGeom>
          <a:solidFill xmlns:a="http://schemas.openxmlformats.org/drawingml/2006/main">
            <a:srgbClr val="34D39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4066BF2-CD18-449F-8803-333A54278754}"/>
              </a:ext>
            </a:extLst>
          </p:cNvPr>
          <p:cNvSpPr>
            <a:spLocks xmlns:a="http://schemas.openxmlformats.org/drawingml/2006/main" noGrp="1"/>
          </p:cNvSpPr>
          <p:nvPr/>
        </p:nvSpPr>
        <p:spPr>
          <a:xfrm xmlns:a="http://schemas.openxmlformats.org/drawingml/2006/main">
            <a:off x="2952750" y="21621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lgn="ctr">
              <a:defRPr sz="2100" b="1">
                <a:solidFill>
                  <a:srgbClr val="071827"/>
                </a:solidFill>
                <a:latin typeface="Aptos"/>
                <a:ea typeface="Aptos"/>
                <a:cs typeface="Aptos"/>
              </a:defRPr>
            </a:pPr>
            <a:r>
              <a:rPr sz="2100" b="1">
                <a:solidFill>
                  <a:srgbClr val="071827"/>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E1D5C85A-6488-497A-87F3-9E4813DF85CE}"/>
              </a:ext>
            </a:extLst>
          </p:cNvPr>
          <p:cNvSpPr>
            <a:spLocks xmlns:a="http://schemas.openxmlformats.org/drawingml/2006/main" noGrp="1"/>
          </p:cNvSpPr>
          <p:nvPr/>
        </p:nvSpPr>
        <p:spPr>
          <a:xfrm xmlns:a="http://schemas.openxmlformats.org/drawingml/2006/main">
            <a:off x="2952750" y="3048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7303C"/>
                </a:solidFill>
                <a:latin typeface="Aptos"/>
                <a:ea typeface="Aptos"/>
                <a:cs typeface="Aptos"/>
              </a:defRPr>
            </a:pPr>
            <a:r>
              <a:rPr sz="1800" b="1">
                <a:solidFill>
                  <a:srgbClr val="17303C"/>
                </a:solidFill>
                <a:latin typeface="Aptos"/>
                <a:ea typeface="Aptos"/>
                <a:cs typeface="Aptos"/>
              </a:rPr>
              <a:t>K3s</a:t>
            </a:r>
          </a:p>
        </p:txBody>
      </p:sp>
      <p:sp>
        <p:nvSpPr>
          <p:cNvPr id="12" name="">
            <a:extLst xmlns:a="http://schemas.openxmlformats.org/drawingml/2006/main">
              <a:ext uri="{FF2B5EF4-FFF2-40B4-BE49-F238E27FC236}">
                <a16:creationId xmlns:a16="http://schemas.microsoft.com/office/drawing/2014/main" id="{95ABF55A-4690-4E51-9138-8A722D651748}"/>
              </a:ext>
            </a:extLst>
          </p:cNvPr>
          <p:cNvSpPr>
            <a:spLocks xmlns:a="http://schemas.openxmlformats.org/drawingml/2006/main" noGrp="1"/>
          </p:cNvSpPr>
          <p:nvPr/>
        </p:nvSpPr>
        <p:spPr>
          <a:xfrm xmlns:a="http://schemas.openxmlformats.org/drawingml/2006/main">
            <a:off x="2952750" y="35242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36A74"/>
                </a:solidFill>
                <a:latin typeface="Aptos"/>
                <a:ea typeface="Aptos"/>
                <a:cs typeface="Aptos"/>
              </a:defRPr>
            </a:pPr>
            <a:r>
              <a:rPr sz="1425" b="0">
                <a:solidFill>
                  <a:srgbClr val="536A74"/>
                </a:solidFill>
                <a:latin typeface="Aptos"/>
                <a:ea typeface="Aptos"/>
                <a:cs typeface="Aptos"/>
              </a:rPr>
              <a:t>2 pods prêts</a:t>
            </a:r>
          </a:p>
        </p:txBody>
      </p:sp>
      <p:sp>
        <p:nvSpPr>
          <p:cNvPr id="13" name="">
            <a:extLst xmlns:a="http://schemas.openxmlformats.org/drawingml/2006/main">
              <a:ext uri="{FF2B5EF4-FFF2-40B4-BE49-F238E27FC236}">
                <a16:creationId xmlns:a16="http://schemas.microsoft.com/office/drawing/2014/main" id="{F6864FFC-127A-4E0E-92B5-16D7999CE7CD}"/>
              </a:ext>
            </a:extLst>
          </p:cNvPr>
          <p:cNvSpPr>
            <a:spLocks xmlns:a="http://schemas.openxmlformats.org/drawingml/2006/main" noGrp="1"/>
          </p:cNvSpPr>
          <p:nvPr/>
        </p:nvSpPr>
        <p:spPr>
          <a:xfrm xmlns:a="http://schemas.openxmlformats.org/drawingml/2006/main">
            <a:off x="3733800" y="2371725"/>
            <a:ext cx="1333500" cy="28575"/>
          </a:xfrm>
          <a:prstGeom xmlns:a="http://schemas.openxmlformats.org/drawingml/2006/main" prst="rect">
            <a:avLst/>
          </a:prstGeom>
          <a:solidFill xmlns:a="http://schemas.openxmlformats.org/drawingml/2006/main">
            <a:srgbClr val="B8CAC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A0EDB1-25DD-410F-86DA-D5406EBEB12C}"/>
              </a:ext>
            </a:extLst>
          </p:cNvPr>
          <p:cNvSpPr>
            <a:spLocks xmlns:a="http://schemas.openxmlformats.org/drawingml/2006/main" noGrp="1"/>
          </p:cNvSpPr>
          <p:nvPr/>
        </p:nvSpPr>
        <p:spPr>
          <a:xfrm xmlns:a="http://schemas.openxmlformats.org/drawingml/2006/main">
            <a:off x="5238750" y="2047875"/>
            <a:ext cx="685800" cy="685800"/>
          </a:xfrm>
          <a:prstGeom xmlns:a="http://schemas.openxmlformats.org/drawingml/2006/main" prst="roundRect">
            <a:avLst>
              <a:gd name="adj" fmla="val 11111"/>
            </a:avLst>
          </a:prstGeom>
          <a:solidFill xmlns:a="http://schemas.openxmlformats.org/drawingml/2006/main">
            <a:srgbClr val="34D39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7F901AB-6C8F-4A72-88E2-803B886AD5C9}"/>
              </a:ext>
            </a:extLst>
          </p:cNvPr>
          <p:cNvSpPr>
            <a:spLocks xmlns:a="http://schemas.openxmlformats.org/drawingml/2006/main" noGrp="1"/>
          </p:cNvSpPr>
          <p:nvPr/>
        </p:nvSpPr>
        <p:spPr>
          <a:xfrm xmlns:a="http://schemas.openxmlformats.org/drawingml/2006/main">
            <a:off x="5238750" y="21621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lgn="ctr">
              <a:defRPr sz="2100" b="1">
                <a:solidFill>
                  <a:srgbClr val="071827"/>
                </a:solidFill>
                <a:latin typeface="Aptos"/>
                <a:ea typeface="Aptos"/>
                <a:cs typeface="Aptos"/>
              </a:defRPr>
            </a:pPr>
            <a:r>
              <a:rPr sz="2100" b="1">
                <a:solidFill>
                  <a:srgbClr val="071827"/>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B456A730-9CA7-42A0-9C53-A1AD6273EADA}"/>
              </a:ext>
            </a:extLst>
          </p:cNvPr>
          <p:cNvSpPr>
            <a:spLocks xmlns:a="http://schemas.openxmlformats.org/drawingml/2006/main" noGrp="1"/>
          </p:cNvSpPr>
          <p:nvPr/>
        </p:nvSpPr>
        <p:spPr>
          <a:xfrm xmlns:a="http://schemas.openxmlformats.org/drawingml/2006/main">
            <a:off x="5238750" y="3048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7303C"/>
                </a:solidFill>
                <a:latin typeface="Aptos"/>
                <a:ea typeface="Aptos"/>
                <a:cs typeface="Aptos"/>
              </a:defRPr>
            </a:pPr>
            <a:r>
              <a:rPr sz="1800" b="1">
                <a:solidFill>
                  <a:srgbClr val="17303C"/>
                </a:solidFill>
                <a:latin typeface="Aptos"/>
                <a:ea typeface="Aptos"/>
                <a:cs typeface="Aptos"/>
              </a:rPr>
              <a:t>Version</a:t>
            </a:r>
          </a:p>
        </p:txBody>
      </p:sp>
      <p:sp>
        <p:nvSpPr>
          <p:cNvPr id="17" name="">
            <a:extLst xmlns:a="http://schemas.openxmlformats.org/drawingml/2006/main">
              <a:ext uri="{FF2B5EF4-FFF2-40B4-BE49-F238E27FC236}">
                <a16:creationId xmlns:a16="http://schemas.microsoft.com/office/drawing/2014/main" id="{C8CE0E79-56F1-4FA9-8F7E-E0398E4E6441}"/>
              </a:ext>
            </a:extLst>
          </p:cNvPr>
          <p:cNvSpPr>
            <a:spLocks xmlns:a="http://schemas.openxmlformats.org/drawingml/2006/main" noGrp="1"/>
          </p:cNvSpPr>
          <p:nvPr/>
        </p:nvSpPr>
        <p:spPr>
          <a:xfrm xmlns:a="http://schemas.openxmlformats.org/drawingml/2006/main">
            <a:off x="5238750" y="35242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36A74"/>
                </a:solidFill>
                <a:latin typeface="Aptos"/>
                <a:ea typeface="Aptos"/>
                <a:cs typeface="Aptos"/>
              </a:defRPr>
            </a:pPr>
            <a:r>
              <a:rPr sz="1425" b="0">
                <a:solidFill>
                  <a:srgbClr val="536A74"/>
                </a:solidFill>
                <a:latin typeface="Aptos"/>
                <a:ea typeface="Aptos"/>
                <a:cs typeface="Aptos"/>
              </a:rPr>
              <a:t>SHA exposé</a:t>
            </a:r>
          </a:p>
        </p:txBody>
      </p:sp>
      <p:sp>
        <p:nvSpPr>
          <p:cNvPr id="18" name="">
            <a:extLst xmlns:a="http://schemas.openxmlformats.org/drawingml/2006/main">
              <a:ext uri="{FF2B5EF4-FFF2-40B4-BE49-F238E27FC236}">
                <a16:creationId xmlns:a16="http://schemas.microsoft.com/office/drawing/2014/main" id="{B750C576-4C0A-4AF9-8C4B-6A8DB92F5260}"/>
              </a:ext>
            </a:extLst>
          </p:cNvPr>
          <p:cNvSpPr>
            <a:spLocks xmlns:a="http://schemas.openxmlformats.org/drawingml/2006/main" noGrp="1"/>
          </p:cNvSpPr>
          <p:nvPr/>
        </p:nvSpPr>
        <p:spPr>
          <a:xfrm xmlns:a="http://schemas.openxmlformats.org/drawingml/2006/main">
            <a:off x="6019800" y="2371725"/>
            <a:ext cx="1333500" cy="28575"/>
          </a:xfrm>
          <a:prstGeom xmlns:a="http://schemas.openxmlformats.org/drawingml/2006/main" prst="rect">
            <a:avLst/>
          </a:prstGeom>
          <a:solidFill xmlns:a="http://schemas.openxmlformats.org/drawingml/2006/main">
            <a:srgbClr val="B8CAC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69F68D9-00A1-4E95-9E13-D82EBAEF1132}"/>
              </a:ext>
            </a:extLst>
          </p:cNvPr>
          <p:cNvSpPr>
            <a:spLocks xmlns:a="http://schemas.openxmlformats.org/drawingml/2006/main" noGrp="1"/>
          </p:cNvSpPr>
          <p:nvPr/>
        </p:nvSpPr>
        <p:spPr>
          <a:xfrm xmlns:a="http://schemas.openxmlformats.org/drawingml/2006/main">
            <a:off x="7524750" y="2047875"/>
            <a:ext cx="685800" cy="685800"/>
          </a:xfrm>
          <a:prstGeom xmlns:a="http://schemas.openxmlformats.org/drawingml/2006/main" prst="roundRect">
            <a:avLst>
              <a:gd name="adj" fmla="val 11111"/>
            </a:avLst>
          </a:prstGeom>
          <a:solidFill xmlns:a="http://schemas.openxmlformats.org/drawingml/2006/main">
            <a:srgbClr val="34D39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0015581-CBA8-4B2E-BE3D-18EA66847FE1}"/>
              </a:ext>
            </a:extLst>
          </p:cNvPr>
          <p:cNvSpPr>
            <a:spLocks xmlns:a="http://schemas.openxmlformats.org/drawingml/2006/main" noGrp="1"/>
          </p:cNvSpPr>
          <p:nvPr/>
        </p:nvSpPr>
        <p:spPr>
          <a:xfrm xmlns:a="http://schemas.openxmlformats.org/drawingml/2006/main">
            <a:off x="7524750" y="21621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lgn="ctr">
              <a:defRPr sz="2100" b="1">
                <a:solidFill>
                  <a:srgbClr val="071827"/>
                </a:solidFill>
                <a:latin typeface="Aptos"/>
                <a:ea typeface="Aptos"/>
                <a:cs typeface="Aptos"/>
              </a:defRPr>
            </a:pPr>
            <a:r>
              <a:rPr sz="2100" b="1">
                <a:solidFill>
                  <a:srgbClr val="071827"/>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E32B91E5-7CF7-4260-A1E7-202345A079F8}"/>
              </a:ext>
            </a:extLst>
          </p:cNvPr>
          <p:cNvSpPr>
            <a:spLocks xmlns:a="http://schemas.openxmlformats.org/drawingml/2006/main" noGrp="1"/>
          </p:cNvSpPr>
          <p:nvPr/>
        </p:nvSpPr>
        <p:spPr>
          <a:xfrm xmlns:a="http://schemas.openxmlformats.org/drawingml/2006/main">
            <a:off x="7524750" y="3048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7303C"/>
                </a:solidFill>
                <a:latin typeface="Aptos"/>
                <a:ea typeface="Aptos"/>
                <a:cs typeface="Aptos"/>
              </a:defRPr>
            </a:pPr>
            <a:r>
              <a:rPr sz="1800" b="1">
                <a:solidFill>
                  <a:srgbClr val="17303C"/>
                </a:solidFill>
                <a:latin typeface="Aptos"/>
                <a:ea typeface="Aptos"/>
                <a:cs typeface="Aptos"/>
              </a:rPr>
              <a:t>Trafic</a:t>
            </a:r>
          </a:p>
        </p:txBody>
      </p:sp>
      <p:sp>
        <p:nvSpPr>
          <p:cNvPr id="22" name="">
            <a:extLst xmlns:a="http://schemas.openxmlformats.org/drawingml/2006/main">
              <a:ext uri="{FF2B5EF4-FFF2-40B4-BE49-F238E27FC236}">
                <a16:creationId xmlns:a16="http://schemas.microsoft.com/office/drawing/2014/main" id="{602245B1-D2AA-4653-A665-EB5DB8CF1B34}"/>
              </a:ext>
            </a:extLst>
          </p:cNvPr>
          <p:cNvSpPr>
            <a:spLocks xmlns:a="http://schemas.openxmlformats.org/drawingml/2006/main" noGrp="1"/>
          </p:cNvSpPr>
          <p:nvPr/>
        </p:nvSpPr>
        <p:spPr>
          <a:xfrm xmlns:a="http://schemas.openxmlformats.org/drawingml/2006/main">
            <a:off x="7524750" y="35242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36A74"/>
                </a:solidFill>
                <a:latin typeface="Aptos"/>
                <a:ea typeface="Aptos"/>
                <a:cs typeface="Aptos"/>
              </a:defRPr>
            </a:pPr>
            <a:r>
              <a:rPr sz="1425" b="0">
                <a:solidFill>
                  <a:srgbClr val="536A74"/>
                </a:solidFill>
                <a:latin typeface="Aptos"/>
                <a:ea typeface="Aptos"/>
                <a:cs typeface="Aptos"/>
              </a:rPr>
              <a:t>30 requêtes</a:t>
            </a:r>
          </a:p>
        </p:txBody>
      </p:sp>
      <p:sp>
        <p:nvSpPr>
          <p:cNvPr id="23" name="">
            <a:extLst xmlns:a="http://schemas.openxmlformats.org/drawingml/2006/main">
              <a:ext uri="{FF2B5EF4-FFF2-40B4-BE49-F238E27FC236}">
                <a16:creationId xmlns:a16="http://schemas.microsoft.com/office/drawing/2014/main" id="{D36BDDE7-C5B6-4DD9-82CB-D6E76240BAA9}"/>
              </a:ext>
            </a:extLst>
          </p:cNvPr>
          <p:cNvSpPr>
            <a:spLocks xmlns:a="http://schemas.openxmlformats.org/drawingml/2006/main" noGrp="1"/>
          </p:cNvSpPr>
          <p:nvPr/>
        </p:nvSpPr>
        <p:spPr>
          <a:xfrm xmlns:a="http://schemas.openxmlformats.org/drawingml/2006/main">
            <a:off x="8305800" y="2371725"/>
            <a:ext cx="1333500" cy="28575"/>
          </a:xfrm>
          <a:prstGeom xmlns:a="http://schemas.openxmlformats.org/drawingml/2006/main" prst="rect">
            <a:avLst/>
          </a:prstGeom>
          <a:solidFill xmlns:a="http://schemas.openxmlformats.org/drawingml/2006/main">
            <a:srgbClr val="B8CAC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B9A7A7E-A77B-4ED0-AE16-CD28C89D20EF}"/>
              </a:ext>
            </a:extLst>
          </p:cNvPr>
          <p:cNvSpPr>
            <a:spLocks xmlns:a="http://schemas.openxmlformats.org/drawingml/2006/main" noGrp="1"/>
          </p:cNvSpPr>
          <p:nvPr/>
        </p:nvSpPr>
        <p:spPr>
          <a:xfrm xmlns:a="http://schemas.openxmlformats.org/drawingml/2006/main">
            <a:off x="9810750" y="2047875"/>
            <a:ext cx="685800" cy="685800"/>
          </a:xfrm>
          <a:prstGeom xmlns:a="http://schemas.openxmlformats.org/drawingml/2006/main" prst="roundRect">
            <a:avLst>
              <a:gd name="adj" fmla="val 11111"/>
            </a:avLst>
          </a:prstGeom>
          <a:solidFill xmlns:a="http://schemas.openxmlformats.org/drawingml/2006/main">
            <a:srgbClr val="FF7A6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62DB1A6-0E55-4D98-8877-306480A94D7E}"/>
              </a:ext>
            </a:extLst>
          </p:cNvPr>
          <p:cNvSpPr>
            <a:spLocks xmlns:a="http://schemas.openxmlformats.org/drawingml/2006/main" noGrp="1"/>
          </p:cNvSpPr>
          <p:nvPr/>
        </p:nvSpPr>
        <p:spPr>
          <a:xfrm xmlns:a="http://schemas.openxmlformats.org/drawingml/2006/main">
            <a:off x="9810750" y="21621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lgn="ctr">
              <a:defRPr sz="2100" b="1">
                <a:solidFill>
                  <a:srgbClr val="071827"/>
                </a:solidFill>
                <a:latin typeface="Aptos"/>
                <a:ea typeface="Aptos"/>
                <a:cs typeface="Aptos"/>
              </a:defRPr>
            </a:pPr>
            <a:r>
              <a:rPr sz="2100" b="1">
                <a:solidFill>
                  <a:srgbClr val="071827"/>
                </a:solidFill>
                <a:latin typeface="Aptos"/>
                <a:ea typeface="Aptos"/>
                <a:cs typeface="Aptos"/>
              </a:rPr>
              <a:t>5</a:t>
            </a:r>
          </a:p>
        </p:txBody>
      </p:sp>
      <p:sp>
        <p:nvSpPr>
          <p:cNvPr id="26" name="">
            <a:extLst xmlns:a="http://schemas.openxmlformats.org/drawingml/2006/main">
              <a:ext uri="{FF2B5EF4-FFF2-40B4-BE49-F238E27FC236}">
                <a16:creationId xmlns:a16="http://schemas.microsoft.com/office/drawing/2014/main" id="{5074764D-3EB8-4190-90FE-FB75F2BFC746}"/>
              </a:ext>
            </a:extLst>
          </p:cNvPr>
          <p:cNvSpPr>
            <a:spLocks xmlns:a="http://schemas.openxmlformats.org/drawingml/2006/main" noGrp="1"/>
          </p:cNvSpPr>
          <p:nvPr/>
        </p:nvSpPr>
        <p:spPr>
          <a:xfrm xmlns:a="http://schemas.openxmlformats.org/drawingml/2006/main">
            <a:off x="9810750" y="3048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7303C"/>
                </a:solidFill>
                <a:latin typeface="Aptos"/>
                <a:ea typeface="Aptos"/>
                <a:cs typeface="Aptos"/>
              </a:defRPr>
            </a:pPr>
            <a:r>
              <a:rPr sz="1800" b="1">
                <a:solidFill>
                  <a:srgbClr val="17303C"/>
                </a:solidFill>
                <a:latin typeface="Aptos"/>
                <a:ea typeface="Aptos"/>
                <a:cs typeface="Aptos"/>
              </a:rPr>
              <a:t>Grafana</a:t>
            </a:r>
          </a:p>
        </p:txBody>
      </p:sp>
      <p:sp>
        <p:nvSpPr>
          <p:cNvPr id="27" name="">
            <a:extLst xmlns:a="http://schemas.openxmlformats.org/drawingml/2006/main">
              <a:ext uri="{FF2B5EF4-FFF2-40B4-BE49-F238E27FC236}">
                <a16:creationId xmlns:a16="http://schemas.microsoft.com/office/drawing/2014/main" id="{A9B0ED8F-88E4-44C6-9BCD-A7F148D97026}"/>
              </a:ext>
            </a:extLst>
          </p:cNvPr>
          <p:cNvSpPr>
            <a:spLocks xmlns:a="http://schemas.openxmlformats.org/drawingml/2006/main" noGrp="1"/>
          </p:cNvSpPr>
          <p:nvPr/>
        </p:nvSpPr>
        <p:spPr>
          <a:xfrm xmlns:a="http://schemas.openxmlformats.org/drawingml/2006/main">
            <a:off x="9810750" y="35242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36A74"/>
                </a:solidFill>
                <a:latin typeface="Aptos"/>
                <a:ea typeface="Aptos"/>
                <a:cs typeface="Aptos"/>
              </a:defRPr>
            </a:pPr>
            <a:r>
              <a:rPr sz="1425" b="0">
                <a:solidFill>
                  <a:srgbClr val="536A74"/>
                </a:solidFill>
                <a:latin typeface="Aptos"/>
                <a:ea typeface="Aptos"/>
                <a:cs typeface="Aptos"/>
              </a:rPr>
              <a:t>signaux visibles</a:t>
            </a:r>
          </a:p>
        </p:txBody>
      </p:sp>
      <p:sp>
        <p:nvSpPr>
          <p:cNvPr id="28" name="">
            <a:extLst xmlns:a="http://schemas.openxmlformats.org/drawingml/2006/main">
              <a:ext uri="{FF2B5EF4-FFF2-40B4-BE49-F238E27FC236}">
                <a16:creationId xmlns:a16="http://schemas.microsoft.com/office/drawing/2014/main" id="{E6C311AD-F1F6-4A6A-9876-CCC246A2E1F8}"/>
              </a:ext>
            </a:extLst>
          </p:cNvPr>
          <p:cNvSpPr>
            <a:spLocks xmlns:a="http://schemas.openxmlformats.org/drawingml/2006/main" noGrp="1"/>
          </p:cNvSpPr>
          <p:nvPr/>
        </p:nvSpPr>
        <p:spPr>
          <a:xfrm xmlns:a="http://schemas.openxmlformats.org/drawingml/2006/main">
            <a:off x="666750" y="5143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17303C"/>
                </a:solidFill>
                <a:latin typeface="Aptos"/>
                <a:ea typeface="Aptos"/>
                <a:cs typeface="Aptos"/>
              </a:defRPr>
            </a:pPr>
            <a:r>
              <a:rPr sz="2025" b="1">
                <a:solidFill>
                  <a:srgbClr val="17303C"/>
                </a:solidFill>
                <a:latin typeface="Aptos"/>
                <a:ea typeface="Aptos"/>
                <a:cs typeface="Aptos"/>
              </a:rPr>
              <a:t>Preuve continue : commit → image → pods → métriques</a:t>
            </a:r>
          </a:p>
        </p:txBody>
      </p:sp>
      <p:sp>
        <p:nvSpPr>
          <p:cNvPr id="29" name="">
            <a:extLst xmlns:a="http://schemas.openxmlformats.org/drawingml/2006/main">
              <a:ext uri="{FF2B5EF4-FFF2-40B4-BE49-F238E27FC236}">
                <a16:creationId xmlns:a16="http://schemas.microsoft.com/office/drawing/2014/main" id="{FF659F79-7E04-410B-BF51-CB2B327928D2}"/>
              </a:ext>
            </a:extLst>
          </p:cNvPr>
          <p:cNvSpPr>
            <a:spLocks xmlns:a="http://schemas.openxmlformats.org/drawingml/2006/main" noGrp="1"/>
          </p:cNvSpPr>
          <p:nvPr/>
        </p:nvSpPr>
        <p:spPr>
          <a:xfrm xmlns:a="http://schemas.openxmlformats.org/drawingml/2006/main">
            <a:off x="666750" y="60007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0">
                <a:solidFill>
                  <a:srgbClr val="657B84"/>
                </a:solidFill>
                <a:latin typeface="Aptos"/>
                <a:ea typeface="Aptos"/>
                <a:cs typeface="Aptos"/>
              </a:defRPr>
            </a:pPr>
            <a:r>
              <a:rPr sz="1125" b="0">
                <a:solidFill>
                  <a:srgbClr val="657B84"/>
                </a:solidFill>
                <a:latin typeface="Aptos"/>
                <a:ea typeface="Aptos"/>
                <a:cs typeface="Aptos"/>
              </a:rPr>
              <a:t>Scénario complet dans docs/demo.md</a:t>
            </a:r>
          </a:p>
        </p:txBody>
      </p:sp>
    </p:spTree>
    <p:extLst>
      <p:ext uri="{BB962C8B-B14F-4D97-AF65-F5344CB8AC3E}">
        <p14:creationId xmlns:p14="http://schemas.microsoft.com/office/powerpoint/2010/main" val="2063029012"/>
      </p:ext>
    </p:extLst>
  </p:cSld>
</p:sld>
</file>

<file path=ppt/slides/slide9.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38F023-2264-4B76-992D-3FA7626382DF}"/>
              </a:ext>
            </a:extLst>
          </p:cNvPr>
          <p:cNvSpPr>
            <a:spLocks xmlns:a="http://schemas.openxmlformats.org/drawingml/2006/main" noGrp="1"/>
          </p:cNvSpPr>
          <p:nvPr/>
        </p:nvSpPr>
        <p:spPr>
          <a:xfrm xmlns:a="http://schemas.openxmlformats.org/drawingml/2006/main">
            <a:off x="609600" y="4572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EAF4F3"/>
                </a:solidFill>
                <a:latin typeface="Aptos"/>
                <a:ea typeface="Aptos"/>
                <a:cs typeface="Aptos"/>
              </a:defRPr>
            </a:pPr>
            <a:r>
              <a:rPr sz="2550" b="1">
                <a:solidFill>
                  <a:srgbClr val="EAF4F3"/>
                </a:solidFill>
                <a:latin typeface="Aptos"/>
                <a:ea typeface="Aptos"/>
                <a:cs typeface="Aptos"/>
              </a:rPr>
              <a:t>Limites et prolongements</a:t>
            </a:r>
          </a:p>
        </p:txBody>
      </p:sp>
      <p:sp>
        <p:nvSpPr>
          <p:cNvPr id="2" name="">
            <a:extLst xmlns:a="http://schemas.openxmlformats.org/drawingml/2006/main">
              <a:ext uri="{FF2B5EF4-FFF2-40B4-BE49-F238E27FC236}">
                <a16:creationId xmlns:a16="http://schemas.microsoft.com/office/drawing/2014/main" id="{0E8EF54A-8001-4CE2-968E-44246DB254F2}"/>
              </a:ext>
            </a:extLst>
          </p:cNvPr>
          <p:cNvSpPr>
            <a:spLocks xmlns:a="http://schemas.openxmlformats.org/drawingml/2006/main" noGrp="1"/>
          </p:cNvSpPr>
          <p:nvPr/>
        </p:nvSpPr>
        <p:spPr>
          <a:xfrm xmlns:a="http://schemas.openxmlformats.org/drawingml/2006/main">
            <a:off x="10953750" y="523875"/>
            <a:ext cx="60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34D399"/>
                </a:solidFill>
                <a:latin typeface="Aptos"/>
                <a:ea typeface="Aptos"/>
                <a:cs typeface="Aptos"/>
              </a:defRPr>
            </a:pPr>
            <a:r>
              <a:rPr sz="1350" b="1">
                <a:solidFill>
                  <a:srgbClr val="34D399"/>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6D6976E5-385B-4F1C-837C-C6C0B516D2EA}"/>
              </a:ext>
            </a:extLst>
          </p:cNvPr>
          <p:cNvSpPr>
            <a:spLocks xmlns:a="http://schemas.openxmlformats.org/drawingml/2006/main" noGrp="1"/>
          </p:cNvSpPr>
          <p:nvPr/>
        </p:nvSpPr>
        <p:spPr>
          <a:xfrm xmlns:a="http://schemas.openxmlformats.org/drawingml/2006/main">
            <a:off x="609600" y="1104900"/>
            <a:ext cx="6858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6EA268-5946-441B-86FD-1B203AF6192C}"/>
              </a:ext>
            </a:extLst>
          </p:cNvPr>
          <p:cNvSpPr>
            <a:spLocks xmlns:a="http://schemas.openxmlformats.org/drawingml/2006/main" noGrp="1"/>
          </p:cNvSpPr>
          <p:nvPr/>
        </p:nvSpPr>
        <p:spPr>
          <a:xfrm xmlns:a="http://schemas.openxmlformats.org/drawingml/2006/main">
            <a:off x="762000" y="16192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F7A6E"/>
                </a:solidFill>
                <a:latin typeface="Aptos"/>
                <a:ea typeface="Aptos"/>
                <a:cs typeface="Aptos"/>
              </a:defRPr>
            </a:pPr>
            <a:r>
              <a:rPr sz="1350" b="1">
                <a:solidFill>
                  <a:srgbClr val="FF7A6E"/>
                </a:solidFill>
                <a:latin typeface="Aptos"/>
                <a:ea typeface="Aptos"/>
                <a:cs typeface="Aptos"/>
              </a:rPr>
              <a:t>PÉRIMÈTRE DU LAB</a:t>
            </a:r>
          </a:p>
        </p:txBody>
      </p:sp>
      <p:sp>
        <p:nvSpPr>
          <p:cNvPr id="5" name="">
            <a:extLst xmlns:a="http://schemas.openxmlformats.org/drawingml/2006/main">
              <a:ext uri="{FF2B5EF4-FFF2-40B4-BE49-F238E27FC236}">
                <a16:creationId xmlns:a16="http://schemas.microsoft.com/office/drawing/2014/main" id="{D9A4BD38-C5FA-4FEB-B3B9-9D78E1AB5BB7}"/>
              </a:ext>
            </a:extLst>
          </p:cNvPr>
          <p:cNvSpPr>
            <a:spLocks xmlns:a="http://schemas.openxmlformats.org/drawingml/2006/main" noGrp="1"/>
          </p:cNvSpPr>
          <p:nvPr/>
        </p:nvSpPr>
        <p:spPr>
          <a:xfrm xmlns:a="http://schemas.openxmlformats.org/drawingml/2006/main">
            <a:off x="762000" y="2238375"/>
            <a:ext cx="419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HTTP local avec nip.io</a:t>
            </a:r>
          </a:p>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Application sans données persistantes</a:t>
            </a:r>
          </a:p>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Cluster K3s de formation</a:t>
            </a:r>
          </a:p>
        </p:txBody>
      </p:sp>
      <p:sp>
        <p:nvSpPr>
          <p:cNvPr id="6" name="">
            <a:extLst xmlns:a="http://schemas.openxmlformats.org/drawingml/2006/main">
              <a:ext uri="{FF2B5EF4-FFF2-40B4-BE49-F238E27FC236}">
                <a16:creationId xmlns:a16="http://schemas.microsoft.com/office/drawing/2014/main" id="{7985BD20-F2E8-43FD-AC01-5F36077084C5}"/>
              </a:ext>
            </a:extLst>
          </p:cNvPr>
          <p:cNvSpPr>
            <a:spLocks xmlns:a="http://schemas.openxmlformats.org/drawingml/2006/main" noGrp="1"/>
          </p:cNvSpPr>
          <p:nvPr/>
        </p:nvSpPr>
        <p:spPr>
          <a:xfrm xmlns:a="http://schemas.openxmlformats.org/drawingml/2006/main">
            <a:off x="5762625" y="1524000"/>
            <a:ext cx="28575" cy="4000500"/>
          </a:xfrm>
          <a:prstGeom xmlns:a="http://schemas.openxmlformats.org/drawingml/2006/main" prst="rect">
            <a:avLst/>
          </a:prstGeom>
          <a:solidFill xmlns:a="http://schemas.openxmlformats.org/drawingml/2006/main">
            <a:srgbClr val="0D263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A4F42B2-4DDA-457B-864F-E6647C49D42C}"/>
              </a:ext>
            </a:extLst>
          </p:cNvPr>
          <p:cNvSpPr>
            <a:spLocks xmlns:a="http://schemas.openxmlformats.org/drawingml/2006/main" noGrp="1"/>
          </p:cNvSpPr>
          <p:nvPr/>
        </p:nvSpPr>
        <p:spPr>
          <a:xfrm xmlns:a="http://schemas.openxmlformats.org/drawingml/2006/main">
            <a:off x="6572250" y="16192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4D399"/>
                </a:solidFill>
                <a:latin typeface="Aptos"/>
                <a:ea typeface="Aptos"/>
                <a:cs typeface="Aptos"/>
              </a:defRPr>
            </a:pPr>
            <a:r>
              <a:rPr sz="1350" b="1">
                <a:solidFill>
                  <a:srgbClr val="34D399"/>
                </a:solidFill>
                <a:latin typeface="Aptos"/>
                <a:ea typeface="Aptos"/>
                <a:cs typeface="Aptos"/>
              </a:rPr>
              <a:t>ÉTAPES SUIVANTES</a:t>
            </a:r>
          </a:p>
        </p:txBody>
      </p:sp>
      <p:sp>
        <p:nvSpPr>
          <p:cNvPr id="8" name="">
            <a:extLst xmlns:a="http://schemas.openxmlformats.org/drawingml/2006/main">
              <a:ext uri="{FF2B5EF4-FFF2-40B4-BE49-F238E27FC236}">
                <a16:creationId xmlns:a16="http://schemas.microsoft.com/office/drawing/2014/main" id="{49D95C20-7412-4B0C-BDA1-59EFF7A61D6D}"/>
              </a:ext>
            </a:extLst>
          </p:cNvPr>
          <p:cNvSpPr>
            <a:spLocks xmlns:a="http://schemas.openxmlformats.org/drawingml/2006/main" noGrp="1"/>
          </p:cNvSpPr>
          <p:nvPr/>
        </p:nvSpPr>
        <p:spPr>
          <a:xfrm xmlns:a="http://schemas.openxmlformats.org/drawingml/2006/main">
            <a:off x="6572250" y="2238375"/>
            <a:ext cx="4572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TLS avec cert-manager</a:t>
            </a:r>
          </a:p>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Secrets gérés hors Git</a:t>
            </a:r>
          </a:p>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Images signées et SAST</a:t>
            </a:r>
          </a:p>
          <a:p xmlns:a="http://schemas.openxmlformats.org/drawingml/2006/main">
            <a:pPr algn="l">
              <a:defRPr sz="2025" b="0">
                <a:solidFill>
                  <a:srgbClr val="EAF4F3"/>
                </a:solidFill>
                <a:latin typeface="Aptos"/>
                <a:ea typeface="Aptos"/>
                <a:cs typeface="Aptos"/>
              </a:defRPr>
            </a:pPr>
            <a:r>
              <a:rPr sz="2025" b="0">
                <a:solidFill>
                  <a:srgbClr val="EAF4F3"/>
                </a:solidFill>
                <a:latin typeface="Aptos"/>
                <a:ea typeface="Aptos"/>
                <a:cs typeface="Aptos"/>
              </a:rPr>
              <a:t>Sauvegardes et haute disponibilité</a:t>
            </a:r>
          </a:p>
        </p:txBody>
      </p:sp>
      <p:sp>
        <p:nvSpPr>
          <p:cNvPr id="9" name="">
            <a:extLst xmlns:a="http://schemas.openxmlformats.org/drawingml/2006/main">
              <a:ext uri="{FF2B5EF4-FFF2-40B4-BE49-F238E27FC236}">
                <a16:creationId xmlns:a16="http://schemas.microsoft.com/office/drawing/2014/main" id="{FCE59FE2-E850-4577-A564-3B60E8862715}"/>
              </a:ext>
            </a:extLst>
          </p:cNvPr>
          <p:cNvSpPr>
            <a:spLocks xmlns:a="http://schemas.openxmlformats.org/drawingml/2006/main" noGrp="1"/>
          </p:cNvSpPr>
          <p:nvPr/>
        </p:nvSpPr>
        <p:spPr>
          <a:xfrm xmlns:a="http://schemas.openxmlformats.org/drawingml/2006/main">
            <a:off x="762000" y="5619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1">
                <a:solidFill>
                  <a:srgbClr val="9CB4BF"/>
                </a:solidFill>
                <a:latin typeface="Aptos"/>
                <a:ea typeface="Aptos"/>
                <a:cs typeface="Aptos"/>
              </a:defRPr>
            </a:pPr>
            <a:r>
              <a:rPr sz="1875" b="1">
                <a:solidFill>
                  <a:srgbClr val="9CB4BF"/>
                </a:solidFill>
                <a:latin typeface="Aptos"/>
                <a:ea typeface="Aptos"/>
                <a:cs typeface="Aptos"/>
              </a:rPr>
              <a:t>L'architecture reste valable ; la gouvernance se renforce</a:t>
            </a:r>
          </a:p>
        </p:txBody>
      </p:sp>
      <p:sp>
        <p:nvSpPr>
          <p:cNvPr id="10" name="">
            <a:extLst xmlns:a="http://schemas.openxmlformats.org/drawingml/2006/main">
              <a:ext uri="{FF2B5EF4-FFF2-40B4-BE49-F238E27FC236}">
                <a16:creationId xmlns:a16="http://schemas.microsoft.com/office/drawing/2014/main" id="{6E902753-BB5C-407A-9D90-C148866D5B84}"/>
              </a:ext>
            </a:extLst>
          </p:cNvPr>
          <p:cNvSpPr>
            <a:spLocks xmlns:a="http://schemas.openxmlformats.org/drawingml/2006/main" noGrp="1"/>
          </p:cNvSpPr>
          <p:nvPr/>
        </p:nvSpPr>
        <p:spPr>
          <a:xfrm xmlns:a="http://schemas.openxmlformats.org/drawingml/2006/main">
            <a:off x="609600" y="64198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9CB4BF"/>
                </a:solidFill>
                <a:latin typeface="Aptos"/>
                <a:ea typeface="Aptos"/>
                <a:cs typeface="Aptos"/>
              </a:defRPr>
            </a:pPr>
            <a:r>
              <a:rPr sz="975" b="0">
                <a:solidFill>
                  <a:srgbClr val="9CB4BF"/>
                </a:solidFill>
                <a:latin typeface="Aptos"/>
                <a:ea typeface="Aptos"/>
                <a:cs typeface="Aptos"/>
              </a:rPr>
              <a:t>ClassLab · Projet fil rouge</a:t>
            </a:r>
          </a:p>
        </p:txBody>
      </p:sp>
    </p:spTree>
    <p:extLst>
      <p:ext uri="{BB962C8B-B14F-4D97-AF65-F5344CB8AC3E}">
        <p14:creationId xmlns:p14="http://schemas.microsoft.com/office/powerpoint/2010/main" val="1259945957"/>
      </p:ext>
    </p:extLst>
  </p:cSld>
</p:sld>
</file>

<file path=ppt/slides/slide10.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8A85E0-52F8-4413-9F3C-C940A78846E1}"/>
              </a:ext>
            </a:extLst>
          </p:cNvPr>
          <p:cNvSpPr>
            <a:spLocks xmlns:a="http://schemas.openxmlformats.org/drawingml/2006/main" noGrp="1"/>
          </p:cNvSpPr>
          <p:nvPr/>
        </p:nvSpPr>
        <p:spPr>
          <a:xfrm xmlns:a="http://schemas.openxmlformats.org/drawingml/2006/main">
            <a:off x="666750" y="8096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4D399"/>
                </a:solidFill>
                <a:latin typeface="Aptos"/>
                <a:ea typeface="Aptos"/>
                <a:cs typeface="Aptos"/>
              </a:defRPr>
            </a:pPr>
            <a:r>
              <a:rPr sz="1350" b="1">
                <a:solidFill>
                  <a:srgbClr val="34D399"/>
                </a:solidFill>
                <a:latin typeface="Aptos"/>
                <a:ea typeface="Aptos"/>
                <a:cs typeface="Aptos"/>
              </a:rPr>
              <a:t>CONCLUSION</a:t>
            </a:r>
          </a:p>
        </p:txBody>
      </p:sp>
      <p:sp>
        <p:nvSpPr>
          <p:cNvPr id="2" name="">
            <a:extLst xmlns:a="http://schemas.openxmlformats.org/drawingml/2006/main">
              <a:ext uri="{FF2B5EF4-FFF2-40B4-BE49-F238E27FC236}">
                <a16:creationId xmlns:a16="http://schemas.microsoft.com/office/drawing/2014/main" id="{B2BD65AA-93AE-4855-94A8-652F901CFD14}"/>
              </a:ext>
            </a:extLst>
          </p:cNvPr>
          <p:cNvSpPr>
            <a:spLocks xmlns:a="http://schemas.openxmlformats.org/drawingml/2006/main" noGrp="1"/>
          </p:cNvSpPr>
          <p:nvPr/>
        </p:nvSpPr>
        <p:spPr>
          <a:xfrm xmlns:a="http://schemas.openxmlformats.org/drawingml/2006/main">
            <a:off x="666750" y="1476375"/>
            <a:ext cx="809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EAF4F3"/>
                </a:solidFill>
                <a:latin typeface="Aptos"/>
                <a:ea typeface="Aptos"/>
                <a:cs typeface="Aptos"/>
              </a:defRPr>
            </a:pPr>
            <a:r>
              <a:rPr sz="3600" b="1">
                <a:solidFill>
                  <a:srgbClr val="EAF4F3"/>
                </a:solidFill>
                <a:latin typeface="Aptos"/>
                <a:ea typeface="Aptos"/>
                <a:cs typeface="Aptos"/>
              </a:rPr>
              <a:t>Un commit devient une</a:t>
            </a:r>
          </a:p>
          <a:p xmlns:a="http://schemas.openxmlformats.org/drawingml/2006/main">
            <a:pPr algn="l">
              <a:defRPr sz="3600" b="1">
                <a:solidFill>
                  <a:srgbClr val="EAF4F3"/>
                </a:solidFill>
                <a:latin typeface="Aptos"/>
                <a:ea typeface="Aptos"/>
                <a:cs typeface="Aptos"/>
              </a:defRPr>
            </a:pPr>
            <a:r>
              <a:rPr sz="3600" b="1">
                <a:solidFill>
                  <a:srgbClr val="EAF4F3"/>
                </a:solidFill>
                <a:latin typeface="Aptos"/>
                <a:ea typeface="Aptos"/>
                <a:cs typeface="Aptos"/>
              </a:rPr>
              <a:t>livraison contrôlée</a:t>
            </a:r>
          </a:p>
        </p:txBody>
      </p:sp>
      <p:sp>
        <p:nvSpPr>
          <p:cNvPr id="3" name="">
            <a:extLst xmlns:a="http://schemas.openxmlformats.org/drawingml/2006/main">
              <a:ext uri="{FF2B5EF4-FFF2-40B4-BE49-F238E27FC236}">
                <a16:creationId xmlns:a16="http://schemas.microsoft.com/office/drawing/2014/main" id="{AB52772F-A2E7-4249-99B5-072A4C774828}"/>
              </a:ext>
            </a:extLst>
          </p:cNvPr>
          <p:cNvSpPr>
            <a:spLocks xmlns:a="http://schemas.openxmlformats.org/drawingml/2006/main" noGrp="1"/>
          </p:cNvSpPr>
          <p:nvPr/>
        </p:nvSpPr>
        <p:spPr>
          <a:xfrm xmlns:a="http://schemas.openxmlformats.org/drawingml/2006/main">
            <a:off x="714375" y="3762375"/>
            <a:ext cx="2857500" cy="47625"/>
          </a:xfrm>
          <a:prstGeom xmlns:a="http://schemas.openxmlformats.org/drawingml/2006/main" prst="rect">
            <a:avLst/>
          </a:prstGeom>
          <a:solidFill xmlns:a="http://schemas.openxmlformats.org/drawingml/2006/main">
            <a:srgbClr val="47BFF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B32E74-5B2C-4C60-ACC8-3C1E420002B2}"/>
              </a:ext>
            </a:extLst>
          </p:cNvPr>
          <p:cNvSpPr>
            <a:spLocks xmlns:a="http://schemas.openxmlformats.org/drawingml/2006/main" noGrp="1"/>
          </p:cNvSpPr>
          <p:nvPr/>
        </p:nvSpPr>
        <p:spPr>
          <a:xfrm xmlns:a="http://schemas.openxmlformats.org/drawingml/2006/main">
            <a:off x="714375" y="40957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47BFF2"/>
                </a:solidFill>
                <a:latin typeface="Aptos"/>
                <a:ea typeface="Aptos"/>
                <a:cs typeface="Aptos"/>
              </a:defRPr>
            </a:pPr>
            <a:r>
              <a:rPr sz="1425" b="1">
                <a:solidFill>
                  <a:srgbClr val="47BFF2"/>
                </a:solidFill>
                <a:latin typeface="Aptos"/>
                <a:ea typeface="Aptos"/>
                <a:cs typeface="Aptos"/>
              </a:rPr>
              <a:t>QUALITÉ</a:t>
            </a:r>
          </a:p>
        </p:txBody>
      </p:sp>
      <p:sp>
        <p:nvSpPr>
          <p:cNvPr id="5" name="">
            <a:extLst xmlns:a="http://schemas.openxmlformats.org/drawingml/2006/main">
              <a:ext uri="{FF2B5EF4-FFF2-40B4-BE49-F238E27FC236}">
                <a16:creationId xmlns:a16="http://schemas.microsoft.com/office/drawing/2014/main" id="{7742BE95-828E-48BE-A567-2F347A8DFCC2}"/>
              </a:ext>
            </a:extLst>
          </p:cNvPr>
          <p:cNvSpPr>
            <a:spLocks xmlns:a="http://schemas.openxmlformats.org/drawingml/2006/main" noGrp="1"/>
          </p:cNvSpPr>
          <p:nvPr/>
        </p:nvSpPr>
        <p:spPr>
          <a:xfrm xmlns:a="http://schemas.openxmlformats.org/drawingml/2006/main">
            <a:off x="714375" y="4572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EAF4F3"/>
                </a:solidFill>
                <a:latin typeface="Aptos"/>
                <a:ea typeface="Aptos"/>
                <a:cs typeface="Aptos"/>
              </a:defRPr>
            </a:pPr>
            <a:r>
              <a:rPr sz="1650" b="0">
                <a:solidFill>
                  <a:srgbClr val="EAF4F3"/>
                </a:solidFill>
                <a:latin typeface="Aptos"/>
                <a:ea typeface="Aptos"/>
                <a:cs typeface="Aptos"/>
              </a:rPr>
              <a:t>tests avant build</a:t>
            </a:r>
          </a:p>
        </p:txBody>
      </p:sp>
      <p:sp>
        <p:nvSpPr>
          <p:cNvPr id="6" name="">
            <a:extLst xmlns:a="http://schemas.openxmlformats.org/drawingml/2006/main">
              <a:ext uri="{FF2B5EF4-FFF2-40B4-BE49-F238E27FC236}">
                <a16:creationId xmlns:a16="http://schemas.microsoft.com/office/drawing/2014/main" id="{21B4C54D-83C3-4872-B056-305D9F6604BF}"/>
              </a:ext>
            </a:extLst>
          </p:cNvPr>
          <p:cNvSpPr>
            <a:spLocks xmlns:a="http://schemas.openxmlformats.org/drawingml/2006/main" noGrp="1"/>
          </p:cNvSpPr>
          <p:nvPr/>
        </p:nvSpPr>
        <p:spPr>
          <a:xfrm xmlns:a="http://schemas.openxmlformats.org/drawingml/2006/main">
            <a:off x="4286250" y="3762375"/>
            <a:ext cx="2857500" cy="47625"/>
          </a:xfrm>
          <a:prstGeom xmlns:a="http://schemas.openxmlformats.org/drawingml/2006/main" prst="rect">
            <a:avLst/>
          </a:prstGeom>
          <a:solidFill xmlns:a="http://schemas.openxmlformats.org/drawingml/2006/main">
            <a:srgbClr val="34D39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19985F3-3990-46B6-884A-F3B6497A9021}"/>
              </a:ext>
            </a:extLst>
          </p:cNvPr>
          <p:cNvSpPr>
            <a:spLocks xmlns:a="http://schemas.openxmlformats.org/drawingml/2006/main" noGrp="1"/>
          </p:cNvSpPr>
          <p:nvPr/>
        </p:nvSpPr>
        <p:spPr>
          <a:xfrm xmlns:a="http://schemas.openxmlformats.org/drawingml/2006/main">
            <a:off x="4286250" y="40957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34D399"/>
                </a:solidFill>
                <a:latin typeface="Aptos"/>
                <a:ea typeface="Aptos"/>
                <a:cs typeface="Aptos"/>
              </a:defRPr>
            </a:pPr>
            <a:r>
              <a:rPr sz="1425" b="1">
                <a:solidFill>
                  <a:srgbClr val="34D399"/>
                </a:solidFill>
                <a:latin typeface="Aptos"/>
                <a:ea typeface="Aptos"/>
                <a:cs typeface="Aptos"/>
              </a:rPr>
              <a:t>TRAÇABILITÉ</a:t>
            </a:r>
          </a:p>
        </p:txBody>
      </p:sp>
      <p:sp>
        <p:nvSpPr>
          <p:cNvPr id="8" name="">
            <a:extLst xmlns:a="http://schemas.openxmlformats.org/drawingml/2006/main">
              <a:ext uri="{FF2B5EF4-FFF2-40B4-BE49-F238E27FC236}">
                <a16:creationId xmlns:a16="http://schemas.microsoft.com/office/drawing/2014/main" id="{6AA1B488-D8C8-48DE-888A-49C28DCFBE87}"/>
              </a:ext>
            </a:extLst>
          </p:cNvPr>
          <p:cNvSpPr>
            <a:spLocks xmlns:a="http://schemas.openxmlformats.org/drawingml/2006/main" noGrp="1"/>
          </p:cNvSpPr>
          <p:nvPr/>
        </p:nvSpPr>
        <p:spPr>
          <a:xfrm xmlns:a="http://schemas.openxmlformats.org/drawingml/2006/main">
            <a:off x="4286250" y="4572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EAF4F3"/>
                </a:solidFill>
                <a:latin typeface="Aptos"/>
                <a:ea typeface="Aptos"/>
                <a:cs typeface="Aptos"/>
              </a:defRPr>
            </a:pPr>
            <a:r>
              <a:rPr sz="1650" b="0">
                <a:solidFill>
                  <a:srgbClr val="EAF4F3"/>
                </a:solidFill>
                <a:latin typeface="Aptos"/>
                <a:ea typeface="Aptos"/>
                <a:cs typeface="Aptos"/>
              </a:rPr>
              <a:t>image liée au SHA</a:t>
            </a:r>
          </a:p>
        </p:txBody>
      </p:sp>
      <p:sp>
        <p:nvSpPr>
          <p:cNvPr id="9" name="">
            <a:extLst xmlns:a="http://schemas.openxmlformats.org/drawingml/2006/main">
              <a:ext uri="{FF2B5EF4-FFF2-40B4-BE49-F238E27FC236}">
                <a16:creationId xmlns:a16="http://schemas.microsoft.com/office/drawing/2014/main" id="{EFA1E44B-8FE8-462E-9DA3-8C8C0170C5D4}"/>
              </a:ext>
            </a:extLst>
          </p:cNvPr>
          <p:cNvSpPr>
            <a:spLocks xmlns:a="http://schemas.openxmlformats.org/drawingml/2006/main" noGrp="1"/>
          </p:cNvSpPr>
          <p:nvPr/>
        </p:nvSpPr>
        <p:spPr>
          <a:xfrm xmlns:a="http://schemas.openxmlformats.org/drawingml/2006/main">
            <a:off x="7858125" y="3762375"/>
            <a:ext cx="2857500" cy="47625"/>
          </a:xfrm>
          <a:prstGeom xmlns:a="http://schemas.openxmlformats.org/drawingml/2006/main" prst="rect">
            <a:avLst/>
          </a:prstGeom>
          <a:solidFill xmlns:a="http://schemas.openxmlformats.org/drawingml/2006/main">
            <a:srgbClr val="FF7A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254AE2-B88E-4DDD-9967-E826E39FDA7E}"/>
              </a:ext>
            </a:extLst>
          </p:cNvPr>
          <p:cNvSpPr>
            <a:spLocks xmlns:a="http://schemas.openxmlformats.org/drawingml/2006/main" noGrp="1"/>
          </p:cNvSpPr>
          <p:nvPr/>
        </p:nvSpPr>
        <p:spPr>
          <a:xfrm xmlns:a="http://schemas.openxmlformats.org/drawingml/2006/main">
            <a:off x="7858125" y="40957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FF7A6E"/>
                </a:solidFill>
                <a:latin typeface="Aptos"/>
                <a:ea typeface="Aptos"/>
                <a:cs typeface="Aptos"/>
              </a:defRPr>
            </a:pPr>
            <a:r>
              <a:rPr sz="1425" b="1">
                <a:solidFill>
                  <a:srgbClr val="FF7A6E"/>
                </a:solidFill>
                <a:latin typeface="Aptos"/>
                <a:ea typeface="Aptos"/>
                <a:cs typeface="Aptos"/>
              </a:rPr>
              <a:t>FIABILITÉ</a:t>
            </a:r>
          </a:p>
        </p:txBody>
      </p:sp>
      <p:sp>
        <p:nvSpPr>
          <p:cNvPr id="11" name="">
            <a:extLst xmlns:a="http://schemas.openxmlformats.org/drawingml/2006/main">
              <a:ext uri="{FF2B5EF4-FFF2-40B4-BE49-F238E27FC236}">
                <a16:creationId xmlns:a16="http://schemas.microsoft.com/office/drawing/2014/main" id="{FEBB9F72-88F4-4288-8576-76E5AED6F39F}"/>
              </a:ext>
            </a:extLst>
          </p:cNvPr>
          <p:cNvSpPr>
            <a:spLocks xmlns:a="http://schemas.openxmlformats.org/drawingml/2006/main" noGrp="1"/>
          </p:cNvSpPr>
          <p:nvPr/>
        </p:nvSpPr>
        <p:spPr>
          <a:xfrm xmlns:a="http://schemas.openxmlformats.org/drawingml/2006/main">
            <a:off x="7858125" y="4572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EAF4F3"/>
                </a:solidFill>
                <a:latin typeface="Aptos"/>
                <a:ea typeface="Aptos"/>
                <a:cs typeface="Aptos"/>
              </a:defRPr>
            </a:pPr>
            <a:r>
              <a:rPr sz="1650" b="0">
                <a:solidFill>
                  <a:srgbClr val="EAF4F3"/>
                </a:solidFill>
                <a:latin typeface="Aptos"/>
                <a:ea typeface="Aptos"/>
                <a:cs typeface="Aptos"/>
              </a:rPr>
              <a:t>rollout et supervision</a:t>
            </a:r>
          </a:p>
        </p:txBody>
      </p:sp>
      <p:sp>
        <p:nvSpPr>
          <p:cNvPr id="12" name="">
            <a:extLst xmlns:a="http://schemas.openxmlformats.org/drawingml/2006/main">
              <a:ext uri="{FF2B5EF4-FFF2-40B4-BE49-F238E27FC236}">
                <a16:creationId xmlns:a16="http://schemas.microsoft.com/office/drawing/2014/main" id="{E110CF95-E82C-4FFB-995C-63F1CE6EE2B8}"/>
              </a:ext>
            </a:extLst>
          </p:cNvPr>
          <p:cNvSpPr>
            <a:spLocks xmlns:a="http://schemas.openxmlformats.org/drawingml/2006/main" noGrp="1"/>
          </p:cNvSpPr>
          <p:nvPr/>
        </p:nvSpPr>
        <p:spPr>
          <a:xfrm xmlns:a="http://schemas.openxmlformats.org/drawingml/2006/main">
            <a:off x="666750" y="59531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9CB4BF"/>
                </a:solidFill>
                <a:latin typeface="Aptos"/>
                <a:ea typeface="Aptos"/>
                <a:cs typeface="Aptos"/>
              </a:defRPr>
            </a:pPr>
            <a:r>
              <a:rPr sz="1875" b="0">
                <a:solidFill>
                  <a:srgbClr val="9CB4BF"/>
                </a:solidFill>
                <a:latin typeface="Aptos"/>
                <a:ea typeface="Aptos"/>
                <a:cs typeface="Aptos"/>
              </a:rPr>
              <a:t>Questions</a:t>
            </a:r>
          </a:p>
        </p:txBody>
      </p:sp>
    </p:spTree>
    <p:extLst>
      <p:ext uri="{BB962C8B-B14F-4D97-AF65-F5344CB8AC3E}">
        <p14:creationId xmlns:p14="http://schemas.microsoft.com/office/powerpoint/2010/main" val="1860619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2026-09-09T14:19:16.9260000Z</dcterms:created>
  <dcterms:modified xsi:type="dcterms:W3CDTF">2026-09-09T14:19:16.9260000Z</dcterms:modified>
</coreProperties>
</file>